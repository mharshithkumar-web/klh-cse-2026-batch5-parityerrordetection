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3A4C"/>
          </a:solidFill>
          <a:ln/>
        </p:spPr>
      </p:sp>
      <p:sp>
        <p:nvSpPr>
          <p:cNvPr id="3" name="Shape 1"/>
          <p:cNvSpPr/>
          <p:nvPr/>
        </p:nvSpPr>
        <p:spPr>
          <a:xfrm>
            <a:off x="0" y="0"/>
            <a:ext cx="146304" cy="6858000"/>
          </a:xfrm>
          <a:prstGeom prst="rect">
            <a:avLst/>
          </a:prstGeom>
          <a:solidFill>
            <a:srgbClr val="B8573A"/>
          </a:solidFill>
          <a:ln/>
        </p:spPr>
      </p:sp>
      <p:sp>
        <p:nvSpPr>
          <p:cNvPr id="4" name="Text 2"/>
          <p:cNvSpPr/>
          <p:nvPr/>
        </p:nvSpPr>
        <p:spPr>
          <a:xfrm>
            <a:off x="502920" y="292608"/>
            <a:ext cx="7498080" cy="219456"/>
          </a:xfrm>
          <a:prstGeom prst="rect">
            <a:avLst/>
          </a:prstGeom>
          <a:noFill/>
          <a:ln/>
        </p:spPr>
        <p:txBody>
          <a:bodyPr wrap="square" rtlCol="0" anchor="ctr"/>
          <a:lstStyle/>
          <a:p>
            <a:pPr indent="0" marL="0">
              <a:buNone/>
            </a:pPr>
            <a:r>
              <a:rPr lang="en-US" sz="1200" spc="180" kern="0" dirty="0">
                <a:solidFill>
                  <a:srgbClr val="E8CFC0"/>
                </a:solidFill>
                <a:latin typeface="Consolas" pitchFamily="34" charset="0"/>
                <a:ea typeface="Consolas" pitchFamily="34" charset="-122"/>
                <a:cs typeface="Consolas" pitchFamily="34" charset="-120"/>
              </a:rPr>
              <a:t>DDCA PROJECT PRESENTATION</a:t>
            </a:r>
            <a:endParaRPr lang="en-US" sz="1200" dirty="0"/>
          </a:p>
        </p:txBody>
      </p:sp>
      <p:sp>
        <p:nvSpPr>
          <p:cNvPr id="5" name="Text 3"/>
          <p:cNvSpPr/>
          <p:nvPr/>
        </p:nvSpPr>
        <p:spPr>
          <a:xfrm>
            <a:off x="502920" y="621792"/>
            <a:ext cx="7680960" cy="14173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Design and Simulation of a Digital Error Detection System Using Parity</a:t>
            </a:r>
            <a:endParaRPr lang="en-US" sz="2600" dirty="0"/>
          </a:p>
        </p:txBody>
      </p:sp>
      <p:sp>
        <p:nvSpPr>
          <p:cNvPr id="6" name="Text 4"/>
          <p:cNvSpPr/>
          <p:nvPr/>
        </p:nvSpPr>
        <p:spPr>
          <a:xfrm>
            <a:off x="502920" y="2121408"/>
            <a:ext cx="7680960" cy="256032"/>
          </a:xfrm>
          <a:prstGeom prst="rect">
            <a:avLst/>
          </a:prstGeom>
          <a:noFill/>
          <a:ln/>
        </p:spPr>
        <p:txBody>
          <a:bodyPr wrap="square" rtlCol="0" anchor="ctr"/>
          <a:lstStyle/>
          <a:p>
            <a:pPr indent="0" marL="0">
              <a:buNone/>
            </a:pPr>
            <a:r>
              <a:rPr lang="en-US" sz="1300" dirty="0">
                <a:solidFill>
                  <a:srgbClr val="D5D0C8"/>
                </a:solidFill>
                <a:latin typeface="Calibri" pitchFamily="34" charset="0"/>
                <a:ea typeface="Calibri" pitchFamily="34" charset="-122"/>
                <a:cs typeface="Calibri" pitchFamily="34" charset="-120"/>
              </a:rPr>
              <a:t>Department of CSE  ·  KLH University  ·  Academic Year 2026–27</a:t>
            </a:r>
            <a:endParaRPr lang="en-US" sz="1300" dirty="0"/>
          </a:p>
        </p:txBody>
      </p:sp>
      <p:sp>
        <p:nvSpPr>
          <p:cNvPr id="7" name="Text 5"/>
          <p:cNvSpPr/>
          <p:nvPr/>
        </p:nvSpPr>
        <p:spPr>
          <a:xfrm>
            <a:off x="502920" y="2542032"/>
            <a:ext cx="7315200" cy="182880"/>
          </a:xfrm>
          <a:prstGeom prst="rect">
            <a:avLst/>
          </a:prstGeom>
          <a:noFill/>
          <a:ln/>
        </p:spPr>
        <p:txBody>
          <a:bodyPr wrap="square" rtlCol="0" anchor="ctr"/>
          <a:lstStyle/>
          <a:p>
            <a:pPr indent="0" marL="0">
              <a:buNone/>
            </a:pPr>
            <a:r>
              <a:rPr lang="en-US" sz="1100" spc="140" kern="0" dirty="0">
                <a:solidFill>
                  <a:srgbClr val="E8CFC0"/>
                </a:solidFill>
                <a:latin typeface="Consolas" pitchFamily="34" charset="0"/>
                <a:ea typeface="Consolas" pitchFamily="34" charset="-122"/>
                <a:cs typeface="Consolas" pitchFamily="34" charset="-120"/>
              </a:rPr>
              <a:t>GUIDE</a:t>
            </a:r>
            <a:endParaRPr lang="en-US" sz="1100" dirty="0"/>
          </a:p>
        </p:txBody>
      </p:sp>
      <p:sp>
        <p:nvSpPr>
          <p:cNvPr id="8" name="Text 6"/>
          <p:cNvSpPr/>
          <p:nvPr/>
        </p:nvSpPr>
        <p:spPr>
          <a:xfrm>
            <a:off x="502920" y="2724912"/>
            <a:ext cx="7315200" cy="237744"/>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Kartheek V</a:t>
            </a:r>
            <a:endParaRPr lang="en-US" sz="1400" dirty="0"/>
          </a:p>
        </p:txBody>
      </p:sp>
      <p:sp>
        <p:nvSpPr>
          <p:cNvPr id="9" name="Shape 7"/>
          <p:cNvSpPr/>
          <p:nvPr/>
        </p:nvSpPr>
        <p:spPr>
          <a:xfrm>
            <a:off x="502920" y="3182112"/>
            <a:ext cx="7452360" cy="640080"/>
          </a:xfrm>
          <a:prstGeom prst="rect">
            <a:avLst/>
          </a:prstGeom>
          <a:solidFill>
            <a:srgbClr val="27485C"/>
          </a:solidFill>
          <a:ln/>
        </p:spPr>
      </p:sp>
      <p:sp>
        <p:nvSpPr>
          <p:cNvPr id="10" name="Text 8"/>
          <p:cNvSpPr/>
          <p:nvPr/>
        </p:nvSpPr>
        <p:spPr>
          <a:xfrm>
            <a:off x="685800" y="3255264"/>
            <a:ext cx="71323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 Harshith Kumar</a:t>
            </a:r>
            <a:endParaRPr lang="en-US" sz="1400" dirty="0"/>
          </a:p>
        </p:txBody>
      </p:sp>
      <p:sp>
        <p:nvSpPr>
          <p:cNvPr id="11" name="Text 9"/>
          <p:cNvSpPr/>
          <p:nvPr/>
        </p:nvSpPr>
        <p:spPr>
          <a:xfrm>
            <a:off x="685800" y="3511296"/>
            <a:ext cx="7132320" cy="219456"/>
          </a:xfrm>
          <a:prstGeom prst="rect">
            <a:avLst/>
          </a:prstGeom>
          <a:noFill/>
          <a:ln/>
        </p:spPr>
        <p:txBody>
          <a:bodyPr wrap="square" rtlCol="0" anchor="ctr"/>
          <a:lstStyle/>
          <a:p>
            <a:pPr indent="0" marL="0">
              <a:buNone/>
            </a:pPr>
            <a:r>
              <a:rPr lang="en-US" sz="1200" dirty="0">
                <a:solidFill>
                  <a:srgbClr val="E8CFC0"/>
                </a:solidFill>
                <a:latin typeface="Consolas" pitchFamily="34" charset="0"/>
                <a:ea typeface="Consolas" pitchFamily="34" charset="-122"/>
                <a:cs typeface="Consolas" pitchFamily="34" charset="-120"/>
              </a:rPr>
              <a:t>2620030453</a:t>
            </a:r>
            <a:endParaRPr lang="en-US" sz="1200" dirty="0"/>
          </a:p>
        </p:txBody>
      </p:sp>
      <p:sp>
        <p:nvSpPr>
          <p:cNvPr id="12" name="Shape 10"/>
          <p:cNvSpPr/>
          <p:nvPr/>
        </p:nvSpPr>
        <p:spPr>
          <a:xfrm>
            <a:off x="502920" y="3895344"/>
            <a:ext cx="7452360" cy="640080"/>
          </a:xfrm>
          <a:prstGeom prst="rect">
            <a:avLst/>
          </a:prstGeom>
          <a:solidFill>
            <a:srgbClr val="27485C"/>
          </a:solidFill>
          <a:ln/>
        </p:spPr>
      </p:sp>
      <p:sp>
        <p:nvSpPr>
          <p:cNvPr id="13" name="Text 11"/>
          <p:cNvSpPr/>
          <p:nvPr/>
        </p:nvSpPr>
        <p:spPr>
          <a:xfrm>
            <a:off x="685800" y="3968496"/>
            <a:ext cx="71323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Balasai Vaishnavi</a:t>
            </a:r>
            <a:endParaRPr lang="en-US" sz="1400" dirty="0"/>
          </a:p>
        </p:txBody>
      </p:sp>
      <p:sp>
        <p:nvSpPr>
          <p:cNvPr id="14" name="Text 12"/>
          <p:cNvSpPr/>
          <p:nvPr/>
        </p:nvSpPr>
        <p:spPr>
          <a:xfrm>
            <a:off x="685800" y="4224528"/>
            <a:ext cx="7132320" cy="219456"/>
          </a:xfrm>
          <a:prstGeom prst="rect">
            <a:avLst/>
          </a:prstGeom>
          <a:noFill/>
          <a:ln/>
        </p:spPr>
        <p:txBody>
          <a:bodyPr wrap="square" rtlCol="0" anchor="ctr"/>
          <a:lstStyle/>
          <a:p>
            <a:pPr indent="0" marL="0">
              <a:buNone/>
            </a:pPr>
            <a:r>
              <a:rPr lang="en-US" sz="1200" dirty="0">
                <a:solidFill>
                  <a:srgbClr val="E8CFC0"/>
                </a:solidFill>
                <a:latin typeface="Consolas" pitchFamily="34" charset="0"/>
                <a:ea typeface="Consolas" pitchFamily="34" charset="-122"/>
                <a:cs typeface="Consolas" pitchFamily="34" charset="-120"/>
              </a:rPr>
              <a:t>2620030340</a:t>
            </a:r>
            <a:endParaRPr lang="en-US" sz="1200" dirty="0"/>
          </a:p>
        </p:txBody>
      </p:sp>
      <p:sp>
        <p:nvSpPr>
          <p:cNvPr id="15" name="Shape 13"/>
          <p:cNvSpPr/>
          <p:nvPr/>
        </p:nvSpPr>
        <p:spPr>
          <a:xfrm>
            <a:off x="502920" y="4608576"/>
            <a:ext cx="7452360" cy="640080"/>
          </a:xfrm>
          <a:prstGeom prst="rect">
            <a:avLst/>
          </a:prstGeom>
          <a:solidFill>
            <a:srgbClr val="27485C"/>
          </a:solidFill>
          <a:ln/>
        </p:spPr>
      </p:sp>
      <p:sp>
        <p:nvSpPr>
          <p:cNvPr id="16" name="Text 14"/>
          <p:cNvSpPr/>
          <p:nvPr/>
        </p:nvSpPr>
        <p:spPr>
          <a:xfrm>
            <a:off x="685800" y="4681728"/>
            <a:ext cx="71323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Pasham Thanay Kumar</a:t>
            </a:r>
            <a:endParaRPr lang="en-US" sz="1400" dirty="0"/>
          </a:p>
        </p:txBody>
      </p:sp>
      <p:sp>
        <p:nvSpPr>
          <p:cNvPr id="17" name="Text 15"/>
          <p:cNvSpPr/>
          <p:nvPr/>
        </p:nvSpPr>
        <p:spPr>
          <a:xfrm>
            <a:off x="685800" y="4937760"/>
            <a:ext cx="7132320" cy="219456"/>
          </a:xfrm>
          <a:prstGeom prst="rect">
            <a:avLst/>
          </a:prstGeom>
          <a:noFill/>
          <a:ln/>
        </p:spPr>
        <p:txBody>
          <a:bodyPr wrap="square" rtlCol="0" anchor="ctr"/>
          <a:lstStyle/>
          <a:p>
            <a:pPr indent="0" marL="0">
              <a:buNone/>
            </a:pPr>
            <a:r>
              <a:rPr lang="en-US" sz="1200" dirty="0">
                <a:solidFill>
                  <a:srgbClr val="E8CFC0"/>
                </a:solidFill>
                <a:latin typeface="Consolas" pitchFamily="34" charset="0"/>
                <a:ea typeface="Consolas" pitchFamily="34" charset="-122"/>
                <a:cs typeface="Consolas" pitchFamily="34" charset="-120"/>
              </a:rPr>
              <a:t>2620030350</a:t>
            </a:r>
            <a:endParaRPr lang="en-US" sz="1200" dirty="0"/>
          </a:p>
        </p:txBody>
      </p:sp>
      <p:sp>
        <p:nvSpPr>
          <p:cNvPr id="18" name="Shape 16"/>
          <p:cNvSpPr/>
          <p:nvPr/>
        </p:nvSpPr>
        <p:spPr>
          <a:xfrm>
            <a:off x="502920" y="5321808"/>
            <a:ext cx="7452360" cy="640080"/>
          </a:xfrm>
          <a:prstGeom prst="rect">
            <a:avLst/>
          </a:prstGeom>
          <a:solidFill>
            <a:srgbClr val="27485C"/>
          </a:solidFill>
          <a:ln/>
        </p:spPr>
      </p:sp>
      <p:sp>
        <p:nvSpPr>
          <p:cNvPr id="19" name="Text 17"/>
          <p:cNvSpPr/>
          <p:nvPr/>
        </p:nvSpPr>
        <p:spPr>
          <a:xfrm>
            <a:off x="685800" y="5394960"/>
            <a:ext cx="713232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Bijjam Naga Harsha Vardhan Reddy</a:t>
            </a:r>
            <a:endParaRPr lang="en-US" sz="1400" dirty="0"/>
          </a:p>
        </p:txBody>
      </p:sp>
      <p:sp>
        <p:nvSpPr>
          <p:cNvPr id="20" name="Text 18"/>
          <p:cNvSpPr/>
          <p:nvPr/>
        </p:nvSpPr>
        <p:spPr>
          <a:xfrm>
            <a:off x="685800" y="5650992"/>
            <a:ext cx="7132320" cy="219456"/>
          </a:xfrm>
          <a:prstGeom prst="rect">
            <a:avLst/>
          </a:prstGeom>
          <a:noFill/>
          <a:ln/>
        </p:spPr>
        <p:txBody>
          <a:bodyPr wrap="square" rtlCol="0" anchor="ctr"/>
          <a:lstStyle/>
          <a:p>
            <a:pPr indent="0" marL="0">
              <a:buNone/>
            </a:pPr>
            <a:r>
              <a:rPr lang="en-US" sz="1200" dirty="0">
                <a:solidFill>
                  <a:srgbClr val="E8CFC0"/>
                </a:solidFill>
                <a:latin typeface="Consolas" pitchFamily="34" charset="0"/>
                <a:ea typeface="Consolas" pitchFamily="34" charset="-122"/>
                <a:cs typeface="Consolas" pitchFamily="34" charset="-120"/>
              </a:rPr>
              <a:t>2620030433</a:t>
            </a:r>
            <a:endParaRPr lang="en-US" sz="1200" dirty="0"/>
          </a:p>
        </p:txBody>
      </p:sp>
      <p:pic>
        <p:nvPicPr>
          <p:cNvPr id="21" name="Image 0" descr="/home/workdir/artifacts/ppt_imgs/s1_1.png"/>
          <p:cNvPicPr>
            <a:picLocks noChangeAspect="1"/>
          </p:cNvPicPr>
          <p:nvPr/>
        </p:nvPicPr>
        <p:blipFill>
          <a:blip r:embed="rId1"/>
          <a:stretch>
            <a:fillRect/>
          </a:stretch>
        </p:blipFill>
        <p:spPr>
          <a:xfrm>
            <a:off x="8549640" y="777240"/>
            <a:ext cx="3246120" cy="35991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02  INTRODUCTION</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BACKGROUND  ·  DOMAIN  ·  IMPORTANCE</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Introduction</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02 / 10</a:t>
            </a:r>
            <a:endParaRPr lang="en-US" sz="900" dirty="0"/>
          </a:p>
        </p:txBody>
      </p:sp>
      <p:sp>
        <p:nvSpPr>
          <p:cNvPr id="11" name="Shape 9"/>
          <p:cNvSpPr/>
          <p:nvPr/>
        </p:nvSpPr>
        <p:spPr>
          <a:xfrm>
            <a:off x="411480" y="1024128"/>
            <a:ext cx="5669280" cy="1828800"/>
          </a:xfrm>
          <a:prstGeom prst="rect">
            <a:avLst/>
          </a:prstGeom>
          <a:solidFill>
            <a:srgbClr val="EFE9DE"/>
          </a:solidFill>
          <a:ln/>
        </p:spPr>
      </p:sp>
      <p:sp>
        <p:nvSpPr>
          <p:cNvPr id="12" name="Shape 10"/>
          <p:cNvSpPr/>
          <p:nvPr/>
        </p:nvSpPr>
        <p:spPr>
          <a:xfrm>
            <a:off x="411480" y="1024128"/>
            <a:ext cx="82296" cy="1828800"/>
          </a:xfrm>
          <a:prstGeom prst="rect">
            <a:avLst/>
          </a:prstGeom>
          <a:solidFill>
            <a:srgbClr val="B8573A"/>
          </a:solidFill>
          <a:ln/>
        </p:spPr>
      </p:sp>
      <p:sp>
        <p:nvSpPr>
          <p:cNvPr id="13" name="Text 11"/>
          <p:cNvSpPr/>
          <p:nvPr/>
        </p:nvSpPr>
        <p:spPr>
          <a:xfrm>
            <a:off x="649224" y="1152144"/>
            <a:ext cx="525780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Background</a:t>
            </a:r>
            <a:endParaRPr lang="en-US" sz="1600" dirty="0"/>
          </a:p>
        </p:txBody>
      </p:sp>
      <p:sp>
        <p:nvSpPr>
          <p:cNvPr id="14" name="Text 12"/>
          <p:cNvSpPr/>
          <p:nvPr/>
        </p:nvSpPr>
        <p:spPr>
          <a:xfrm>
            <a:off x="649224" y="1481328"/>
            <a:ext cx="5257800" cy="123444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Digital systems send data as 0s and 1s. Noise, interference, or hardware faults can flip bits and corrupt the message. Error detection is required for reliable transfer.</a:t>
            </a:r>
            <a:endParaRPr lang="en-US" sz="1400" dirty="0"/>
          </a:p>
        </p:txBody>
      </p:sp>
      <p:sp>
        <p:nvSpPr>
          <p:cNvPr id="15" name="Shape 13"/>
          <p:cNvSpPr/>
          <p:nvPr/>
        </p:nvSpPr>
        <p:spPr>
          <a:xfrm>
            <a:off x="6309360" y="1024128"/>
            <a:ext cx="5669280" cy="1828800"/>
          </a:xfrm>
          <a:prstGeom prst="rect">
            <a:avLst/>
          </a:prstGeom>
          <a:solidFill>
            <a:srgbClr val="EFE9DE"/>
          </a:solidFill>
          <a:ln/>
        </p:spPr>
      </p:sp>
      <p:sp>
        <p:nvSpPr>
          <p:cNvPr id="16" name="Shape 14"/>
          <p:cNvSpPr/>
          <p:nvPr/>
        </p:nvSpPr>
        <p:spPr>
          <a:xfrm>
            <a:off x="6309360" y="1024128"/>
            <a:ext cx="82296" cy="1828800"/>
          </a:xfrm>
          <a:prstGeom prst="rect">
            <a:avLst/>
          </a:prstGeom>
          <a:solidFill>
            <a:srgbClr val="B8573A"/>
          </a:solidFill>
          <a:ln/>
        </p:spPr>
      </p:sp>
      <p:sp>
        <p:nvSpPr>
          <p:cNvPr id="17" name="Text 15"/>
          <p:cNvSpPr/>
          <p:nvPr/>
        </p:nvSpPr>
        <p:spPr>
          <a:xfrm>
            <a:off x="6547104" y="1152144"/>
            <a:ext cx="525780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Domain</a:t>
            </a:r>
            <a:endParaRPr lang="en-US" sz="1600" dirty="0"/>
          </a:p>
        </p:txBody>
      </p:sp>
      <p:sp>
        <p:nvSpPr>
          <p:cNvPr id="18" name="Text 16"/>
          <p:cNvSpPr/>
          <p:nvPr/>
        </p:nvSpPr>
        <p:spPr>
          <a:xfrm>
            <a:off x="6547104" y="1481328"/>
            <a:ext cx="5257800" cy="123444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This work is in Digital Electronics and Communication. It uses logic circuits to generate and check a parity bit during binary transmission.</a:t>
            </a:r>
            <a:endParaRPr lang="en-US" sz="1400" dirty="0"/>
          </a:p>
        </p:txBody>
      </p:sp>
      <p:sp>
        <p:nvSpPr>
          <p:cNvPr id="19" name="Shape 17"/>
          <p:cNvSpPr/>
          <p:nvPr/>
        </p:nvSpPr>
        <p:spPr>
          <a:xfrm>
            <a:off x="411480" y="2990088"/>
            <a:ext cx="5669280" cy="1828800"/>
          </a:xfrm>
          <a:prstGeom prst="rect">
            <a:avLst/>
          </a:prstGeom>
          <a:solidFill>
            <a:srgbClr val="EFE9DE"/>
          </a:solidFill>
          <a:ln/>
        </p:spPr>
      </p:sp>
      <p:sp>
        <p:nvSpPr>
          <p:cNvPr id="20" name="Shape 18"/>
          <p:cNvSpPr/>
          <p:nvPr/>
        </p:nvSpPr>
        <p:spPr>
          <a:xfrm>
            <a:off x="411480" y="2990088"/>
            <a:ext cx="82296" cy="1828800"/>
          </a:xfrm>
          <a:prstGeom prst="rect">
            <a:avLst/>
          </a:prstGeom>
          <a:solidFill>
            <a:srgbClr val="B8573A"/>
          </a:solidFill>
          <a:ln/>
        </p:spPr>
      </p:sp>
      <p:sp>
        <p:nvSpPr>
          <p:cNvPr id="21" name="Text 19"/>
          <p:cNvSpPr/>
          <p:nvPr/>
        </p:nvSpPr>
        <p:spPr>
          <a:xfrm>
            <a:off x="649224" y="3118104"/>
            <a:ext cx="525780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What is parity?</a:t>
            </a:r>
            <a:endParaRPr lang="en-US" sz="1600" dirty="0"/>
          </a:p>
        </p:txBody>
      </p:sp>
      <p:sp>
        <p:nvSpPr>
          <p:cNvPr id="22" name="Text 20"/>
          <p:cNvSpPr/>
          <p:nvPr/>
        </p:nvSpPr>
        <p:spPr>
          <a:xfrm>
            <a:off x="649224" y="3447288"/>
            <a:ext cx="5257800" cy="123444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A parity bit is one extra bit added to the data. The receiver recomputes parity. If the result does not match, an error is flagged.</a:t>
            </a:r>
            <a:endParaRPr lang="en-US" sz="1400" dirty="0"/>
          </a:p>
        </p:txBody>
      </p:sp>
      <p:sp>
        <p:nvSpPr>
          <p:cNvPr id="23" name="Shape 21"/>
          <p:cNvSpPr/>
          <p:nvPr/>
        </p:nvSpPr>
        <p:spPr>
          <a:xfrm>
            <a:off x="6309360" y="2990088"/>
            <a:ext cx="5669280" cy="1828800"/>
          </a:xfrm>
          <a:prstGeom prst="rect">
            <a:avLst/>
          </a:prstGeom>
          <a:solidFill>
            <a:srgbClr val="EFE9DE"/>
          </a:solidFill>
          <a:ln/>
        </p:spPr>
      </p:sp>
      <p:sp>
        <p:nvSpPr>
          <p:cNvPr id="24" name="Shape 22"/>
          <p:cNvSpPr/>
          <p:nvPr/>
        </p:nvSpPr>
        <p:spPr>
          <a:xfrm>
            <a:off x="6309360" y="2990088"/>
            <a:ext cx="82296" cy="1828800"/>
          </a:xfrm>
          <a:prstGeom prst="rect">
            <a:avLst/>
          </a:prstGeom>
          <a:solidFill>
            <a:srgbClr val="B8573A"/>
          </a:solidFill>
          <a:ln/>
        </p:spPr>
      </p:sp>
      <p:sp>
        <p:nvSpPr>
          <p:cNvPr id="25" name="Text 23"/>
          <p:cNvSpPr/>
          <p:nvPr/>
        </p:nvSpPr>
        <p:spPr>
          <a:xfrm>
            <a:off x="6547104" y="3118104"/>
            <a:ext cx="525780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Importance</a:t>
            </a:r>
            <a:endParaRPr lang="en-US" sz="1600" dirty="0"/>
          </a:p>
        </p:txBody>
      </p:sp>
      <p:sp>
        <p:nvSpPr>
          <p:cNvPr id="26" name="Text 24"/>
          <p:cNvSpPr/>
          <p:nvPr/>
        </p:nvSpPr>
        <p:spPr>
          <a:xfrm>
            <a:off x="6547104" y="3447288"/>
            <a:ext cx="5257800" cy="123444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Parity is simple, low-cost, and used in computers and basic links. The project shows how XOR gates detect single-bit errors in practice.</a:t>
            </a:r>
            <a:endParaRPr lang="en-US" sz="1400" dirty="0"/>
          </a:p>
        </p:txBody>
      </p:sp>
      <p:pic>
        <p:nvPicPr>
          <p:cNvPr id="27" name="Image 0" descr="/home/workdir/artifacts/ppt_imgs/s4_2.png"/>
          <p:cNvPicPr>
            <a:picLocks noChangeAspect="1"/>
          </p:cNvPicPr>
          <p:nvPr/>
        </p:nvPicPr>
        <p:blipFill>
          <a:blip r:embed="rId1"/>
          <a:stretch>
            <a:fillRect/>
          </a:stretch>
        </p:blipFill>
        <p:spPr>
          <a:xfrm>
            <a:off x="4497179" y="4983480"/>
            <a:ext cx="3167161" cy="1325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03  PROBLEM STATEMENT</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PROBLEM  ·  LIMITATIONS  ·  NEED</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Problem Statement</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03 / 10</a:t>
            </a:r>
            <a:endParaRPr lang="en-US" sz="900" dirty="0"/>
          </a:p>
        </p:txBody>
      </p:sp>
      <p:sp>
        <p:nvSpPr>
          <p:cNvPr id="11" name="Shape 9"/>
          <p:cNvSpPr/>
          <p:nvPr/>
        </p:nvSpPr>
        <p:spPr>
          <a:xfrm>
            <a:off x="411480" y="987552"/>
            <a:ext cx="11384280" cy="1078992"/>
          </a:xfrm>
          <a:prstGeom prst="rect">
            <a:avLst/>
          </a:prstGeom>
          <a:solidFill>
            <a:srgbClr val="EFE9DE"/>
          </a:solidFill>
          <a:ln/>
        </p:spPr>
      </p:sp>
      <p:sp>
        <p:nvSpPr>
          <p:cNvPr id="12" name="Text 10"/>
          <p:cNvSpPr/>
          <p:nvPr/>
        </p:nvSpPr>
        <p:spPr>
          <a:xfrm>
            <a:off x="566928" y="1060704"/>
            <a:ext cx="11064240" cy="219456"/>
          </a:xfrm>
          <a:prstGeom prst="rect">
            <a:avLst/>
          </a:prstGeom>
          <a:noFill/>
          <a:ln/>
        </p:spPr>
        <p:txBody>
          <a:bodyPr wrap="square" rtlCol="0" anchor="ctr"/>
          <a:lstStyle/>
          <a:p>
            <a:pPr indent="0" marL="0">
              <a:buNone/>
            </a:pPr>
            <a:r>
              <a:rPr lang="en-US" sz="1500" b="1" dirty="0">
                <a:solidFill>
                  <a:srgbClr val="B8573A"/>
                </a:solidFill>
                <a:latin typeface="Georgia" pitchFamily="34" charset="0"/>
                <a:ea typeface="Georgia" pitchFamily="34" charset="-122"/>
                <a:cs typeface="Georgia" pitchFamily="34" charset="-120"/>
              </a:rPr>
              <a:t>Problem</a:t>
            </a:r>
            <a:endParaRPr lang="en-US" sz="1500" dirty="0"/>
          </a:p>
        </p:txBody>
      </p:sp>
      <p:sp>
        <p:nvSpPr>
          <p:cNvPr id="13" name="Text 11"/>
          <p:cNvSpPr/>
          <p:nvPr/>
        </p:nvSpPr>
        <p:spPr>
          <a:xfrm>
            <a:off x="566928" y="1298448"/>
            <a:ext cx="11064240" cy="64008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During digital transmission, noise or hardware faults can change bits. The receiver then gets wrong data. A simple method is needed to detect these errors and protect data integrity.</a:t>
            </a:r>
            <a:endParaRPr lang="en-US" sz="1400" dirty="0"/>
          </a:p>
        </p:txBody>
      </p:sp>
      <p:pic>
        <p:nvPicPr>
          <p:cNvPr id="14" name="Image 0" descr="/home/workdir/artifacts/ppt_imgs/s5_3.png"/>
          <p:cNvPicPr>
            <a:picLocks noChangeAspect="1"/>
          </p:cNvPicPr>
          <p:nvPr/>
        </p:nvPicPr>
        <p:blipFill>
          <a:blip r:embed="rId1"/>
          <a:stretch>
            <a:fillRect/>
          </a:stretch>
        </p:blipFill>
        <p:spPr>
          <a:xfrm>
            <a:off x="3621928" y="2157984"/>
            <a:ext cx="4963383" cy="1691640"/>
          </a:xfrm>
          <a:prstGeom prst="rect">
            <a:avLst/>
          </a:prstGeom>
        </p:spPr>
      </p:pic>
      <p:sp>
        <p:nvSpPr>
          <p:cNvPr id="15" name="Text 12"/>
          <p:cNvSpPr/>
          <p:nvPr/>
        </p:nvSpPr>
        <p:spPr>
          <a:xfrm>
            <a:off x="411480" y="3950208"/>
            <a:ext cx="5577840" cy="237744"/>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Limitations</a:t>
            </a:r>
            <a:endParaRPr lang="en-US" sz="1500" dirty="0"/>
          </a:p>
        </p:txBody>
      </p:sp>
      <p:sp>
        <p:nvSpPr>
          <p:cNvPr id="16" name="Text 13"/>
          <p:cNvSpPr/>
          <p:nvPr/>
        </p:nvSpPr>
        <p:spPr>
          <a:xfrm>
            <a:off x="6217920" y="3950208"/>
            <a:ext cx="5577840" cy="237744"/>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Need for the project</a:t>
            </a:r>
            <a:endParaRPr lang="en-US" sz="1500" dirty="0"/>
          </a:p>
        </p:txBody>
      </p:sp>
      <p:sp>
        <p:nvSpPr>
          <p:cNvPr id="17" name="Shape 14"/>
          <p:cNvSpPr/>
          <p:nvPr/>
        </p:nvSpPr>
        <p:spPr>
          <a:xfrm>
            <a:off x="411480" y="4242816"/>
            <a:ext cx="5577840" cy="457200"/>
          </a:xfrm>
          <a:prstGeom prst="rect">
            <a:avLst/>
          </a:prstGeom>
          <a:solidFill>
            <a:srgbClr val="EFE9DE"/>
          </a:solidFill>
          <a:ln/>
        </p:spPr>
      </p:sp>
      <p:sp>
        <p:nvSpPr>
          <p:cNvPr id="18" name="Text 15"/>
          <p:cNvSpPr/>
          <p:nvPr/>
        </p:nvSpPr>
        <p:spPr>
          <a:xfrm>
            <a:off x="548640" y="4315968"/>
            <a:ext cx="5303520"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Detects errors but cannot correct them</a:t>
            </a:r>
            <a:endParaRPr lang="en-US" sz="1300" dirty="0"/>
          </a:p>
        </p:txBody>
      </p:sp>
      <p:sp>
        <p:nvSpPr>
          <p:cNvPr id="19" name="Shape 16"/>
          <p:cNvSpPr/>
          <p:nvPr/>
        </p:nvSpPr>
        <p:spPr>
          <a:xfrm>
            <a:off x="411480" y="4745736"/>
            <a:ext cx="5577840" cy="457200"/>
          </a:xfrm>
          <a:prstGeom prst="rect">
            <a:avLst/>
          </a:prstGeom>
          <a:solidFill>
            <a:srgbClr val="EFE9DE"/>
          </a:solidFill>
          <a:ln/>
        </p:spPr>
      </p:sp>
      <p:sp>
        <p:nvSpPr>
          <p:cNvPr id="20" name="Text 17"/>
          <p:cNvSpPr/>
          <p:nvPr/>
        </p:nvSpPr>
        <p:spPr>
          <a:xfrm>
            <a:off x="548640" y="4818888"/>
            <a:ext cx="5303520"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Cannot show the exact bit that failed</a:t>
            </a:r>
            <a:endParaRPr lang="en-US" sz="1300" dirty="0"/>
          </a:p>
        </p:txBody>
      </p:sp>
      <p:sp>
        <p:nvSpPr>
          <p:cNvPr id="21" name="Shape 18"/>
          <p:cNvSpPr/>
          <p:nvPr/>
        </p:nvSpPr>
        <p:spPr>
          <a:xfrm>
            <a:off x="411480" y="5248656"/>
            <a:ext cx="5577840" cy="457200"/>
          </a:xfrm>
          <a:prstGeom prst="rect">
            <a:avLst/>
          </a:prstGeom>
          <a:solidFill>
            <a:srgbClr val="EFE9DE"/>
          </a:solidFill>
          <a:ln/>
        </p:spPr>
      </p:sp>
      <p:sp>
        <p:nvSpPr>
          <p:cNvPr id="22" name="Text 19"/>
          <p:cNvSpPr/>
          <p:nvPr/>
        </p:nvSpPr>
        <p:spPr>
          <a:xfrm>
            <a:off x="548640" y="5321808"/>
            <a:ext cx="5303520"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Best for single-bit errors</a:t>
            </a:r>
            <a:endParaRPr lang="en-US" sz="1300" dirty="0"/>
          </a:p>
        </p:txBody>
      </p:sp>
      <p:sp>
        <p:nvSpPr>
          <p:cNvPr id="23" name="Shape 20"/>
          <p:cNvSpPr/>
          <p:nvPr/>
        </p:nvSpPr>
        <p:spPr>
          <a:xfrm>
            <a:off x="411480" y="5751576"/>
            <a:ext cx="5577840" cy="457200"/>
          </a:xfrm>
          <a:prstGeom prst="rect">
            <a:avLst/>
          </a:prstGeom>
          <a:solidFill>
            <a:srgbClr val="EFE9DE"/>
          </a:solidFill>
          <a:ln/>
        </p:spPr>
      </p:sp>
      <p:sp>
        <p:nvSpPr>
          <p:cNvPr id="24" name="Text 21"/>
          <p:cNvSpPr/>
          <p:nvPr/>
        </p:nvSpPr>
        <p:spPr>
          <a:xfrm>
            <a:off x="548640" y="5824728"/>
            <a:ext cx="5303520"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Some multi-bit errors may pass</a:t>
            </a:r>
            <a:endParaRPr lang="en-US" sz="1300" dirty="0"/>
          </a:p>
        </p:txBody>
      </p:sp>
      <p:sp>
        <p:nvSpPr>
          <p:cNvPr id="25" name="Shape 22"/>
          <p:cNvSpPr/>
          <p:nvPr/>
        </p:nvSpPr>
        <p:spPr>
          <a:xfrm>
            <a:off x="6217920" y="4242816"/>
            <a:ext cx="5559552" cy="457200"/>
          </a:xfrm>
          <a:prstGeom prst="rect">
            <a:avLst/>
          </a:prstGeom>
          <a:solidFill>
            <a:srgbClr val="EFE9DE"/>
          </a:solidFill>
          <a:ln/>
        </p:spPr>
      </p:sp>
      <p:sp>
        <p:nvSpPr>
          <p:cNvPr id="26" name="Text 23"/>
          <p:cNvSpPr/>
          <p:nvPr/>
        </p:nvSpPr>
        <p:spPr>
          <a:xfrm>
            <a:off x="6355080" y="4315968"/>
            <a:ext cx="5285232"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Detect errors in digital transfer</a:t>
            </a:r>
            <a:endParaRPr lang="en-US" sz="1300" dirty="0"/>
          </a:p>
        </p:txBody>
      </p:sp>
      <p:sp>
        <p:nvSpPr>
          <p:cNvPr id="27" name="Shape 24"/>
          <p:cNvSpPr/>
          <p:nvPr/>
        </p:nvSpPr>
        <p:spPr>
          <a:xfrm>
            <a:off x="6217920" y="4745736"/>
            <a:ext cx="5559552" cy="457200"/>
          </a:xfrm>
          <a:prstGeom prst="rect">
            <a:avLst/>
          </a:prstGeom>
          <a:solidFill>
            <a:srgbClr val="EFE9DE"/>
          </a:solidFill>
          <a:ln/>
        </p:spPr>
      </p:sp>
      <p:sp>
        <p:nvSpPr>
          <p:cNvPr id="28" name="Text 25"/>
          <p:cNvSpPr/>
          <p:nvPr/>
        </p:nvSpPr>
        <p:spPr>
          <a:xfrm>
            <a:off x="6355080" y="4818888"/>
            <a:ext cx="5285232"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Keep a low-cost, simple method</a:t>
            </a:r>
            <a:endParaRPr lang="en-US" sz="1300" dirty="0"/>
          </a:p>
        </p:txBody>
      </p:sp>
      <p:sp>
        <p:nvSpPr>
          <p:cNvPr id="29" name="Shape 26"/>
          <p:cNvSpPr/>
          <p:nvPr/>
        </p:nvSpPr>
        <p:spPr>
          <a:xfrm>
            <a:off x="6217920" y="5248656"/>
            <a:ext cx="5559552" cy="457200"/>
          </a:xfrm>
          <a:prstGeom prst="rect">
            <a:avLst/>
          </a:prstGeom>
          <a:solidFill>
            <a:srgbClr val="EFE9DE"/>
          </a:solidFill>
          <a:ln/>
        </p:spPr>
      </p:sp>
      <p:sp>
        <p:nvSpPr>
          <p:cNvPr id="30" name="Text 27"/>
          <p:cNvSpPr/>
          <p:nvPr/>
        </p:nvSpPr>
        <p:spPr>
          <a:xfrm>
            <a:off x="6355080" y="5321808"/>
            <a:ext cx="5285232"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Learn parity bits and XOR gates</a:t>
            </a:r>
            <a:endParaRPr lang="en-US" sz="1300" dirty="0"/>
          </a:p>
        </p:txBody>
      </p:sp>
      <p:sp>
        <p:nvSpPr>
          <p:cNvPr id="31" name="Shape 28"/>
          <p:cNvSpPr/>
          <p:nvPr/>
        </p:nvSpPr>
        <p:spPr>
          <a:xfrm>
            <a:off x="6217920" y="5751576"/>
            <a:ext cx="5559552" cy="457200"/>
          </a:xfrm>
          <a:prstGeom prst="rect">
            <a:avLst/>
          </a:prstGeom>
          <a:solidFill>
            <a:srgbClr val="EFE9DE"/>
          </a:solidFill>
          <a:ln/>
        </p:spPr>
      </p:sp>
      <p:sp>
        <p:nvSpPr>
          <p:cNvPr id="32" name="Text 29"/>
          <p:cNvSpPr/>
          <p:nvPr/>
        </p:nvSpPr>
        <p:spPr>
          <a:xfrm>
            <a:off x="6355080" y="5824728"/>
            <a:ext cx="5285232" cy="310896"/>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Simulate error and no-error cases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04  OBJECTIVES</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PROJECT GOALS</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Objectives</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04 / 10</a:t>
            </a:r>
            <a:endParaRPr lang="en-US" sz="900" dirty="0"/>
          </a:p>
        </p:txBody>
      </p:sp>
      <p:sp>
        <p:nvSpPr>
          <p:cNvPr id="11" name="Shape 9"/>
          <p:cNvSpPr/>
          <p:nvPr/>
        </p:nvSpPr>
        <p:spPr>
          <a:xfrm>
            <a:off x="411480" y="1024128"/>
            <a:ext cx="5669280" cy="1572768"/>
          </a:xfrm>
          <a:prstGeom prst="rect">
            <a:avLst/>
          </a:prstGeom>
          <a:solidFill>
            <a:srgbClr val="EFE9DE"/>
          </a:solidFill>
          <a:ln/>
        </p:spPr>
      </p:sp>
      <p:sp>
        <p:nvSpPr>
          <p:cNvPr id="12" name="Text 10"/>
          <p:cNvSpPr/>
          <p:nvPr/>
        </p:nvSpPr>
        <p:spPr>
          <a:xfrm>
            <a:off x="594360" y="118872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01</a:t>
            </a:r>
            <a:endParaRPr lang="en-US" sz="1600" dirty="0"/>
          </a:p>
        </p:txBody>
      </p:sp>
      <p:sp>
        <p:nvSpPr>
          <p:cNvPr id="13" name="Text 11"/>
          <p:cNvSpPr/>
          <p:nvPr/>
        </p:nvSpPr>
        <p:spPr>
          <a:xfrm>
            <a:off x="1554480" y="118872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Design</a:t>
            </a:r>
            <a:endParaRPr lang="en-US" sz="1700" dirty="0"/>
          </a:p>
        </p:txBody>
      </p:sp>
      <p:sp>
        <p:nvSpPr>
          <p:cNvPr id="14" name="Text 12"/>
          <p:cNvSpPr/>
          <p:nvPr/>
        </p:nvSpPr>
        <p:spPr>
          <a:xfrm>
            <a:off x="594360" y="160934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Design a parity-based digital error detection system for binary data.</a:t>
            </a:r>
            <a:endParaRPr lang="en-US" sz="1400" dirty="0"/>
          </a:p>
        </p:txBody>
      </p:sp>
      <p:sp>
        <p:nvSpPr>
          <p:cNvPr id="15" name="Shape 13"/>
          <p:cNvSpPr/>
          <p:nvPr/>
        </p:nvSpPr>
        <p:spPr>
          <a:xfrm>
            <a:off x="6309360" y="1024128"/>
            <a:ext cx="5669280" cy="1572768"/>
          </a:xfrm>
          <a:prstGeom prst="rect">
            <a:avLst/>
          </a:prstGeom>
          <a:solidFill>
            <a:srgbClr val="EFE9DE"/>
          </a:solidFill>
          <a:ln/>
        </p:spPr>
      </p:sp>
      <p:sp>
        <p:nvSpPr>
          <p:cNvPr id="16" name="Text 14"/>
          <p:cNvSpPr/>
          <p:nvPr/>
        </p:nvSpPr>
        <p:spPr>
          <a:xfrm>
            <a:off x="6492240" y="118872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02</a:t>
            </a:r>
            <a:endParaRPr lang="en-US" sz="1600" dirty="0"/>
          </a:p>
        </p:txBody>
      </p:sp>
      <p:sp>
        <p:nvSpPr>
          <p:cNvPr id="17" name="Text 15"/>
          <p:cNvSpPr/>
          <p:nvPr/>
        </p:nvSpPr>
        <p:spPr>
          <a:xfrm>
            <a:off x="7452360" y="118872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Generate and check</a:t>
            </a:r>
            <a:endParaRPr lang="en-US" sz="1700" dirty="0"/>
          </a:p>
        </p:txBody>
      </p:sp>
      <p:sp>
        <p:nvSpPr>
          <p:cNvPr id="18" name="Text 16"/>
          <p:cNvSpPr/>
          <p:nvPr/>
        </p:nvSpPr>
        <p:spPr>
          <a:xfrm>
            <a:off x="6492240" y="160934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Generate and verify even and odd parity bits using logic gates.</a:t>
            </a:r>
            <a:endParaRPr lang="en-US" sz="1400" dirty="0"/>
          </a:p>
        </p:txBody>
      </p:sp>
      <p:sp>
        <p:nvSpPr>
          <p:cNvPr id="19" name="Shape 17"/>
          <p:cNvSpPr/>
          <p:nvPr/>
        </p:nvSpPr>
        <p:spPr>
          <a:xfrm>
            <a:off x="411480" y="2761488"/>
            <a:ext cx="5669280" cy="1572768"/>
          </a:xfrm>
          <a:prstGeom prst="rect">
            <a:avLst/>
          </a:prstGeom>
          <a:solidFill>
            <a:srgbClr val="EFE9DE"/>
          </a:solidFill>
          <a:ln/>
        </p:spPr>
      </p:sp>
      <p:sp>
        <p:nvSpPr>
          <p:cNvPr id="20" name="Text 18"/>
          <p:cNvSpPr/>
          <p:nvPr/>
        </p:nvSpPr>
        <p:spPr>
          <a:xfrm>
            <a:off x="594360" y="292608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03</a:t>
            </a:r>
            <a:endParaRPr lang="en-US" sz="1600" dirty="0"/>
          </a:p>
        </p:txBody>
      </p:sp>
      <p:sp>
        <p:nvSpPr>
          <p:cNvPr id="21" name="Text 19"/>
          <p:cNvSpPr/>
          <p:nvPr/>
        </p:nvSpPr>
        <p:spPr>
          <a:xfrm>
            <a:off x="1554480" y="292608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Detect errors</a:t>
            </a:r>
            <a:endParaRPr lang="en-US" sz="1700" dirty="0"/>
          </a:p>
        </p:txBody>
      </p:sp>
      <p:sp>
        <p:nvSpPr>
          <p:cNvPr id="22" name="Text 20"/>
          <p:cNvSpPr/>
          <p:nvPr/>
        </p:nvSpPr>
        <p:spPr>
          <a:xfrm>
            <a:off x="594360" y="334670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Detect single-bit errors that occur during digital transmission.</a:t>
            </a:r>
            <a:endParaRPr lang="en-US" sz="1400" dirty="0"/>
          </a:p>
        </p:txBody>
      </p:sp>
      <p:sp>
        <p:nvSpPr>
          <p:cNvPr id="23" name="Shape 21"/>
          <p:cNvSpPr/>
          <p:nvPr/>
        </p:nvSpPr>
        <p:spPr>
          <a:xfrm>
            <a:off x="6309360" y="2761488"/>
            <a:ext cx="5669280" cy="1572768"/>
          </a:xfrm>
          <a:prstGeom prst="rect">
            <a:avLst/>
          </a:prstGeom>
          <a:solidFill>
            <a:srgbClr val="EFE9DE"/>
          </a:solidFill>
          <a:ln/>
        </p:spPr>
      </p:sp>
      <p:sp>
        <p:nvSpPr>
          <p:cNvPr id="24" name="Text 22"/>
          <p:cNvSpPr/>
          <p:nvPr/>
        </p:nvSpPr>
        <p:spPr>
          <a:xfrm>
            <a:off x="6492240" y="292608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04</a:t>
            </a:r>
            <a:endParaRPr lang="en-US" sz="1600" dirty="0"/>
          </a:p>
        </p:txBody>
      </p:sp>
      <p:sp>
        <p:nvSpPr>
          <p:cNvPr id="25" name="Text 23"/>
          <p:cNvSpPr/>
          <p:nvPr/>
        </p:nvSpPr>
        <p:spPr>
          <a:xfrm>
            <a:off x="7452360" y="292608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Implement in logic</a:t>
            </a:r>
            <a:endParaRPr lang="en-US" sz="1700" dirty="0"/>
          </a:p>
        </p:txBody>
      </p:sp>
      <p:sp>
        <p:nvSpPr>
          <p:cNvPr id="26" name="Text 24"/>
          <p:cNvSpPr/>
          <p:nvPr/>
        </p:nvSpPr>
        <p:spPr>
          <a:xfrm>
            <a:off x="6492240" y="334670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Build the system with XOR gates, switches, and LED indicators.</a:t>
            </a:r>
            <a:endParaRPr lang="en-US" sz="1400" dirty="0"/>
          </a:p>
        </p:txBody>
      </p:sp>
      <p:sp>
        <p:nvSpPr>
          <p:cNvPr id="27" name="Shape 25"/>
          <p:cNvSpPr/>
          <p:nvPr/>
        </p:nvSpPr>
        <p:spPr>
          <a:xfrm>
            <a:off x="411480" y="4498848"/>
            <a:ext cx="5669280" cy="1572768"/>
          </a:xfrm>
          <a:prstGeom prst="rect">
            <a:avLst/>
          </a:prstGeom>
          <a:solidFill>
            <a:srgbClr val="EFE9DE"/>
          </a:solidFill>
          <a:ln/>
        </p:spPr>
      </p:sp>
      <p:sp>
        <p:nvSpPr>
          <p:cNvPr id="28" name="Text 26"/>
          <p:cNvSpPr/>
          <p:nvPr/>
        </p:nvSpPr>
        <p:spPr>
          <a:xfrm>
            <a:off x="594360" y="466344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05</a:t>
            </a:r>
            <a:endParaRPr lang="en-US" sz="1600" dirty="0"/>
          </a:p>
        </p:txBody>
      </p:sp>
      <p:sp>
        <p:nvSpPr>
          <p:cNvPr id="29" name="Text 27"/>
          <p:cNvSpPr/>
          <p:nvPr/>
        </p:nvSpPr>
        <p:spPr>
          <a:xfrm>
            <a:off x="1554480" y="466344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Simulate and test</a:t>
            </a:r>
            <a:endParaRPr lang="en-US" sz="1700" dirty="0"/>
          </a:p>
        </p:txBody>
      </p:sp>
      <p:sp>
        <p:nvSpPr>
          <p:cNvPr id="30" name="Text 28"/>
          <p:cNvSpPr/>
          <p:nvPr/>
        </p:nvSpPr>
        <p:spPr>
          <a:xfrm>
            <a:off x="594360" y="508406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Simulate the circuit in Logisim and verify error / no-error outputs.</a:t>
            </a:r>
            <a:endParaRPr lang="en-US" sz="1400" dirty="0"/>
          </a:p>
        </p:txBody>
      </p:sp>
      <p:sp>
        <p:nvSpPr>
          <p:cNvPr id="31" name="Shape 29"/>
          <p:cNvSpPr/>
          <p:nvPr/>
        </p:nvSpPr>
        <p:spPr>
          <a:xfrm>
            <a:off x="6309360" y="4498848"/>
            <a:ext cx="5669280" cy="1572768"/>
          </a:xfrm>
          <a:prstGeom prst="rect">
            <a:avLst/>
          </a:prstGeom>
          <a:solidFill>
            <a:srgbClr val="EFE9DE"/>
          </a:solidFill>
          <a:ln/>
        </p:spPr>
      </p:sp>
      <p:sp>
        <p:nvSpPr>
          <p:cNvPr id="32" name="Text 30"/>
          <p:cNvSpPr/>
          <p:nvPr/>
        </p:nvSpPr>
        <p:spPr>
          <a:xfrm>
            <a:off x="6492240" y="4663440"/>
            <a:ext cx="960120" cy="310896"/>
          </a:xfrm>
          <a:prstGeom prst="rect">
            <a:avLst/>
          </a:prstGeom>
          <a:noFill/>
          <a:ln/>
        </p:spPr>
        <p:txBody>
          <a:bodyPr wrap="square" rtlCol="0" anchor="ctr"/>
          <a:lstStyle/>
          <a:p>
            <a:pPr indent="0" marL="0">
              <a:buNone/>
            </a:pPr>
            <a:r>
              <a:rPr lang="en-US" sz="1600" b="1" dirty="0">
                <a:solidFill>
                  <a:srgbClr val="B8573A"/>
                </a:solidFill>
                <a:latin typeface="Consolas" pitchFamily="34" charset="0"/>
                <a:ea typeface="Consolas" pitchFamily="34" charset="-122"/>
                <a:cs typeface="Consolas" pitchFamily="34" charset="-120"/>
              </a:rPr>
              <a:t>06</a:t>
            </a:r>
            <a:endParaRPr lang="en-US" sz="1600" dirty="0"/>
          </a:p>
        </p:txBody>
      </p:sp>
      <p:sp>
        <p:nvSpPr>
          <p:cNvPr id="33" name="Text 31"/>
          <p:cNvSpPr/>
          <p:nvPr/>
        </p:nvSpPr>
        <p:spPr>
          <a:xfrm>
            <a:off x="7452360" y="4663440"/>
            <a:ext cx="4297680" cy="310896"/>
          </a:xfrm>
          <a:prstGeom prst="rect">
            <a:avLst/>
          </a:prstGeom>
          <a:noFill/>
          <a:ln/>
        </p:spPr>
        <p:txBody>
          <a:bodyPr wrap="square" rtlCol="0" anchor="ctr"/>
          <a:lstStyle/>
          <a:p>
            <a:pPr indent="0" marL="0">
              <a:buNone/>
            </a:pPr>
            <a:r>
              <a:rPr lang="en-US" sz="1700" b="1" dirty="0">
                <a:solidFill>
                  <a:srgbClr val="1A1714"/>
                </a:solidFill>
                <a:latin typeface="Georgia" pitchFamily="34" charset="0"/>
                <a:ea typeface="Georgia" pitchFamily="34" charset="-122"/>
                <a:cs typeface="Georgia" pitchFamily="34" charset="-120"/>
              </a:rPr>
              <a:t>Record results</a:t>
            </a:r>
            <a:endParaRPr lang="en-US" sz="1700" dirty="0"/>
          </a:p>
        </p:txBody>
      </p:sp>
      <p:sp>
        <p:nvSpPr>
          <p:cNvPr id="34" name="Text 32"/>
          <p:cNvSpPr/>
          <p:nvPr/>
        </p:nvSpPr>
        <p:spPr>
          <a:xfrm>
            <a:off x="6492240" y="5084064"/>
            <a:ext cx="5303520" cy="804672"/>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Capture truth tables, test cases, and circuit screenshots for the report.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05  LITERATURE SURVEY</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EXISTING METHODS AND GAPS</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Literature Survey / Existing System</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05 / 10</a:t>
            </a:r>
            <a:endParaRPr lang="en-US" sz="900" dirty="0"/>
          </a:p>
        </p:txBody>
      </p:sp>
      <p:sp>
        <p:nvSpPr>
          <p:cNvPr id="11" name="Shape 9"/>
          <p:cNvSpPr/>
          <p:nvPr/>
        </p:nvSpPr>
        <p:spPr>
          <a:xfrm>
            <a:off x="411480" y="1024128"/>
            <a:ext cx="3730752" cy="5212080"/>
          </a:xfrm>
          <a:prstGeom prst="rect">
            <a:avLst/>
          </a:prstGeom>
          <a:solidFill>
            <a:srgbClr val="EFE9DE"/>
          </a:solidFill>
          <a:ln/>
        </p:spPr>
      </p:sp>
      <p:sp>
        <p:nvSpPr>
          <p:cNvPr id="12" name="Shape 10"/>
          <p:cNvSpPr/>
          <p:nvPr/>
        </p:nvSpPr>
        <p:spPr>
          <a:xfrm>
            <a:off x="411480" y="1024128"/>
            <a:ext cx="3730752" cy="475488"/>
          </a:xfrm>
          <a:prstGeom prst="rect">
            <a:avLst/>
          </a:prstGeom>
          <a:solidFill>
            <a:srgbClr val="1E3A4C"/>
          </a:solidFill>
          <a:ln/>
        </p:spPr>
      </p:sp>
      <p:sp>
        <p:nvSpPr>
          <p:cNvPr id="13" name="Text 11"/>
          <p:cNvSpPr/>
          <p:nvPr/>
        </p:nvSpPr>
        <p:spPr>
          <a:xfrm>
            <a:off x="557784" y="1097280"/>
            <a:ext cx="3438144" cy="329184"/>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Previous methods</a:t>
            </a:r>
            <a:endParaRPr lang="en-US" sz="1500" dirty="0"/>
          </a:p>
        </p:txBody>
      </p:sp>
      <p:sp>
        <p:nvSpPr>
          <p:cNvPr id="14" name="Text 12"/>
          <p:cNvSpPr/>
          <p:nvPr/>
        </p:nvSpPr>
        <p:spPr>
          <a:xfrm>
            <a:off x="612648" y="173736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1.  Parity bit method</a:t>
            </a:r>
            <a:endParaRPr lang="en-US" sz="1500" dirty="0"/>
          </a:p>
        </p:txBody>
      </p:sp>
      <p:sp>
        <p:nvSpPr>
          <p:cNvPr id="15" name="Text 13"/>
          <p:cNvSpPr/>
          <p:nvPr/>
        </p:nvSpPr>
        <p:spPr>
          <a:xfrm>
            <a:off x="612648" y="274320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2.  Checksum method</a:t>
            </a:r>
            <a:endParaRPr lang="en-US" sz="1500" dirty="0"/>
          </a:p>
        </p:txBody>
      </p:sp>
      <p:sp>
        <p:nvSpPr>
          <p:cNvPr id="16" name="Text 14"/>
          <p:cNvSpPr/>
          <p:nvPr/>
        </p:nvSpPr>
        <p:spPr>
          <a:xfrm>
            <a:off x="612648" y="374904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3.  Cyclic Redundancy Check (CRC)</a:t>
            </a:r>
            <a:endParaRPr lang="en-US" sz="1500" dirty="0"/>
          </a:p>
        </p:txBody>
      </p:sp>
      <p:sp>
        <p:nvSpPr>
          <p:cNvPr id="17" name="Text 15"/>
          <p:cNvSpPr/>
          <p:nvPr/>
        </p:nvSpPr>
        <p:spPr>
          <a:xfrm>
            <a:off x="612648" y="475488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4.  Hamming code (detect + correct)</a:t>
            </a:r>
            <a:endParaRPr lang="en-US" sz="1500" dirty="0"/>
          </a:p>
        </p:txBody>
      </p:sp>
      <p:sp>
        <p:nvSpPr>
          <p:cNvPr id="18" name="Shape 16"/>
          <p:cNvSpPr/>
          <p:nvPr/>
        </p:nvSpPr>
        <p:spPr>
          <a:xfrm>
            <a:off x="4297680" y="1024128"/>
            <a:ext cx="3730752" cy="5212080"/>
          </a:xfrm>
          <a:prstGeom prst="rect">
            <a:avLst/>
          </a:prstGeom>
          <a:solidFill>
            <a:srgbClr val="EFE9DE"/>
          </a:solidFill>
          <a:ln/>
        </p:spPr>
      </p:sp>
      <p:sp>
        <p:nvSpPr>
          <p:cNvPr id="19" name="Shape 17"/>
          <p:cNvSpPr/>
          <p:nvPr/>
        </p:nvSpPr>
        <p:spPr>
          <a:xfrm>
            <a:off x="4297680" y="1024128"/>
            <a:ext cx="3730752" cy="475488"/>
          </a:xfrm>
          <a:prstGeom prst="rect">
            <a:avLst/>
          </a:prstGeom>
          <a:solidFill>
            <a:srgbClr val="1E3A4C"/>
          </a:solidFill>
          <a:ln/>
        </p:spPr>
      </p:sp>
      <p:sp>
        <p:nvSpPr>
          <p:cNvPr id="20" name="Text 18"/>
          <p:cNvSpPr/>
          <p:nvPr/>
        </p:nvSpPr>
        <p:spPr>
          <a:xfrm>
            <a:off x="4443984" y="1097280"/>
            <a:ext cx="3438144" cy="329184"/>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Existing solutions</a:t>
            </a:r>
            <a:endParaRPr lang="en-US" sz="1500" dirty="0"/>
          </a:p>
        </p:txBody>
      </p:sp>
      <p:sp>
        <p:nvSpPr>
          <p:cNvPr id="21" name="Text 19"/>
          <p:cNvSpPr/>
          <p:nvPr/>
        </p:nvSpPr>
        <p:spPr>
          <a:xfrm>
            <a:off x="4498848" y="173736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1.  Even parity checking</a:t>
            </a:r>
            <a:endParaRPr lang="en-US" sz="1500" dirty="0"/>
          </a:p>
        </p:txBody>
      </p:sp>
      <p:sp>
        <p:nvSpPr>
          <p:cNvPr id="22" name="Text 20"/>
          <p:cNvSpPr/>
          <p:nvPr/>
        </p:nvSpPr>
        <p:spPr>
          <a:xfrm>
            <a:off x="4498848" y="274320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2.  Odd parity checking</a:t>
            </a:r>
            <a:endParaRPr lang="en-US" sz="1500" dirty="0"/>
          </a:p>
        </p:txBody>
      </p:sp>
      <p:sp>
        <p:nvSpPr>
          <p:cNvPr id="23" name="Text 21"/>
          <p:cNvSpPr/>
          <p:nvPr/>
        </p:nvSpPr>
        <p:spPr>
          <a:xfrm>
            <a:off x="4498848" y="374904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3.  Parity generator circuits</a:t>
            </a:r>
            <a:endParaRPr lang="en-US" sz="1500" dirty="0"/>
          </a:p>
        </p:txBody>
      </p:sp>
      <p:sp>
        <p:nvSpPr>
          <p:cNvPr id="24" name="Text 22"/>
          <p:cNvSpPr/>
          <p:nvPr/>
        </p:nvSpPr>
        <p:spPr>
          <a:xfrm>
            <a:off x="4498848" y="475488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4.  Parity checker circuits</a:t>
            </a:r>
            <a:endParaRPr lang="en-US" sz="1500" dirty="0"/>
          </a:p>
        </p:txBody>
      </p:sp>
      <p:sp>
        <p:nvSpPr>
          <p:cNvPr id="25" name="Shape 23"/>
          <p:cNvSpPr/>
          <p:nvPr/>
        </p:nvSpPr>
        <p:spPr>
          <a:xfrm>
            <a:off x="8183880" y="1024128"/>
            <a:ext cx="3730752" cy="5212080"/>
          </a:xfrm>
          <a:prstGeom prst="rect">
            <a:avLst/>
          </a:prstGeom>
          <a:solidFill>
            <a:srgbClr val="EFE9DE"/>
          </a:solidFill>
          <a:ln/>
        </p:spPr>
      </p:sp>
      <p:sp>
        <p:nvSpPr>
          <p:cNvPr id="26" name="Shape 24"/>
          <p:cNvSpPr/>
          <p:nvPr/>
        </p:nvSpPr>
        <p:spPr>
          <a:xfrm>
            <a:off x="8183880" y="1024128"/>
            <a:ext cx="3730752" cy="475488"/>
          </a:xfrm>
          <a:prstGeom prst="rect">
            <a:avLst/>
          </a:prstGeom>
          <a:solidFill>
            <a:srgbClr val="1E3A4C"/>
          </a:solidFill>
          <a:ln/>
        </p:spPr>
      </p:sp>
      <p:sp>
        <p:nvSpPr>
          <p:cNvPr id="27" name="Text 25"/>
          <p:cNvSpPr/>
          <p:nvPr/>
        </p:nvSpPr>
        <p:spPr>
          <a:xfrm>
            <a:off x="8330184" y="1097280"/>
            <a:ext cx="3438144" cy="329184"/>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28" name="Text 26"/>
          <p:cNvSpPr/>
          <p:nvPr/>
        </p:nvSpPr>
        <p:spPr>
          <a:xfrm>
            <a:off x="8385048" y="173736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1.  Cannot correct the error</a:t>
            </a:r>
            <a:endParaRPr lang="en-US" sz="1500" dirty="0"/>
          </a:p>
        </p:txBody>
      </p:sp>
      <p:sp>
        <p:nvSpPr>
          <p:cNvPr id="29" name="Text 27"/>
          <p:cNvSpPr/>
          <p:nvPr/>
        </p:nvSpPr>
        <p:spPr>
          <a:xfrm>
            <a:off x="8385048" y="274320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2.  Cannot show error position</a:t>
            </a:r>
            <a:endParaRPr lang="en-US" sz="1500" dirty="0"/>
          </a:p>
        </p:txBody>
      </p:sp>
      <p:sp>
        <p:nvSpPr>
          <p:cNvPr id="30" name="Text 28"/>
          <p:cNvSpPr/>
          <p:nvPr/>
        </p:nvSpPr>
        <p:spPr>
          <a:xfrm>
            <a:off x="8385048" y="374904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3.  Weak for multi-bit errors</a:t>
            </a:r>
            <a:endParaRPr lang="en-US" sz="1500" dirty="0"/>
          </a:p>
        </p:txBody>
      </p:sp>
      <p:sp>
        <p:nvSpPr>
          <p:cNvPr id="31" name="Text 29"/>
          <p:cNvSpPr/>
          <p:nvPr/>
        </p:nvSpPr>
        <p:spPr>
          <a:xfrm>
            <a:off x="8385048" y="4754880"/>
            <a:ext cx="3328416" cy="822960"/>
          </a:xfrm>
          <a:prstGeom prst="rect">
            <a:avLst/>
          </a:prstGeom>
          <a:noFill/>
          <a:ln/>
        </p:spPr>
        <p:txBody>
          <a:bodyPr wrap="square" rtlCol="0" anchor="ctr"/>
          <a:lstStyle/>
          <a:p>
            <a:pPr indent="0" marL="0">
              <a:buNone/>
            </a:pPr>
            <a:r>
              <a:rPr lang="en-US" sz="1500" dirty="0">
                <a:solidFill>
                  <a:srgbClr val="1A1714"/>
                </a:solidFill>
                <a:latin typeface="Calibri" pitchFamily="34" charset="0"/>
                <a:ea typeface="Calibri" pitchFamily="34" charset="-122"/>
                <a:cs typeface="Calibri" pitchFamily="34" charset="-120"/>
              </a:rPr>
              <a:t>4.  CRC is stronger but harder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06  PROPOSED SYSTEM</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SOLUTION  ·  FEATURES  ·  IMPROVEMENT</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Proposed System</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06 / 10</a:t>
            </a:r>
            <a:endParaRPr lang="en-US" sz="900" dirty="0"/>
          </a:p>
        </p:txBody>
      </p:sp>
      <p:sp>
        <p:nvSpPr>
          <p:cNvPr id="11" name="Shape 9"/>
          <p:cNvSpPr/>
          <p:nvPr/>
        </p:nvSpPr>
        <p:spPr>
          <a:xfrm>
            <a:off x="411480" y="987552"/>
            <a:ext cx="7452360" cy="1234440"/>
          </a:xfrm>
          <a:prstGeom prst="rect">
            <a:avLst/>
          </a:prstGeom>
          <a:solidFill>
            <a:srgbClr val="EFE9DE"/>
          </a:solidFill>
          <a:ln/>
        </p:spPr>
      </p:sp>
      <p:sp>
        <p:nvSpPr>
          <p:cNvPr id="12" name="Text 10"/>
          <p:cNvSpPr/>
          <p:nvPr/>
        </p:nvSpPr>
        <p:spPr>
          <a:xfrm>
            <a:off x="566928" y="1060704"/>
            <a:ext cx="7132320" cy="237744"/>
          </a:xfrm>
          <a:prstGeom prst="rect">
            <a:avLst/>
          </a:prstGeom>
          <a:noFill/>
          <a:ln/>
        </p:spPr>
        <p:txBody>
          <a:bodyPr wrap="square" rtlCol="0" anchor="ctr"/>
          <a:lstStyle/>
          <a:p>
            <a:pPr indent="0" marL="0">
              <a:buNone/>
            </a:pPr>
            <a:r>
              <a:rPr lang="en-US" sz="1500" b="1" dirty="0">
                <a:solidFill>
                  <a:srgbClr val="B8573A"/>
                </a:solidFill>
                <a:latin typeface="Georgia" pitchFamily="34" charset="0"/>
                <a:ea typeface="Georgia" pitchFamily="34" charset="-122"/>
                <a:cs typeface="Georgia" pitchFamily="34" charset="-120"/>
              </a:rPr>
              <a:t>Proposed solution</a:t>
            </a:r>
            <a:endParaRPr lang="en-US" sz="1500" dirty="0"/>
          </a:p>
        </p:txBody>
      </p:sp>
      <p:sp>
        <p:nvSpPr>
          <p:cNvPr id="13" name="Text 11"/>
          <p:cNvSpPr/>
          <p:nvPr/>
        </p:nvSpPr>
        <p:spPr>
          <a:xfrm>
            <a:off x="566928" y="1335024"/>
            <a:ext cx="7132320" cy="77724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A 4-bit parity generator and checker. XOR gates create even or odd parity at the sender. The receiver recomputes parity and shows No Error or Error Detected.</a:t>
            </a:r>
            <a:endParaRPr lang="en-US" sz="1400" dirty="0"/>
          </a:p>
        </p:txBody>
      </p:sp>
      <p:sp>
        <p:nvSpPr>
          <p:cNvPr id="14" name="Shape 12"/>
          <p:cNvSpPr/>
          <p:nvPr/>
        </p:nvSpPr>
        <p:spPr>
          <a:xfrm>
            <a:off x="411480" y="2340864"/>
            <a:ext cx="7452360" cy="868680"/>
          </a:xfrm>
          <a:prstGeom prst="rect">
            <a:avLst/>
          </a:prstGeom>
          <a:solidFill>
            <a:srgbClr val="EFE9DE"/>
          </a:solidFill>
          <a:ln/>
        </p:spPr>
      </p:sp>
      <p:sp>
        <p:nvSpPr>
          <p:cNvPr id="15" name="Text 13"/>
          <p:cNvSpPr/>
          <p:nvPr/>
        </p:nvSpPr>
        <p:spPr>
          <a:xfrm>
            <a:off x="585216" y="2432304"/>
            <a:ext cx="7132320" cy="256032"/>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Even / odd parity</a:t>
            </a:r>
            <a:endParaRPr lang="en-US" sz="1500" dirty="0"/>
          </a:p>
        </p:txBody>
      </p:sp>
      <p:sp>
        <p:nvSpPr>
          <p:cNvPr id="16" name="Text 14"/>
          <p:cNvSpPr/>
          <p:nvPr/>
        </p:nvSpPr>
        <p:spPr>
          <a:xfrm>
            <a:off x="585216" y="2724912"/>
            <a:ext cx="7132320" cy="3840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Both even and odd parity can be generated and checked.</a:t>
            </a:r>
            <a:endParaRPr lang="en-US" sz="1300" dirty="0"/>
          </a:p>
        </p:txBody>
      </p:sp>
      <p:sp>
        <p:nvSpPr>
          <p:cNvPr id="17" name="Shape 15"/>
          <p:cNvSpPr/>
          <p:nvPr/>
        </p:nvSpPr>
        <p:spPr>
          <a:xfrm>
            <a:off x="411480" y="3300984"/>
            <a:ext cx="7452360" cy="868680"/>
          </a:xfrm>
          <a:prstGeom prst="rect">
            <a:avLst/>
          </a:prstGeom>
          <a:solidFill>
            <a:srgbClr val="EFE9DE"/>
          </a:solidFill>
          <a:ln/>
        </p:spPr>
      </p:sp>
      <p:sp>
        <p:nvSpPr>
          <p:cNvPr id="18" name="Text 16"/>
          <p:cNvSpPr/>
          <p:nvPr/>
        </p:nvSpPr>
        <p:spPr>
          <a:xfrm>
            <a:off x="585216" y="3392424"/>
            <a:ext cx="7132320" cy="256032"/>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XOR logic</a:t>
            </a:r>
            <a:endParaRPr lang="en-US" sz="1500" dirty="0"/>
          </a:p>
        </p:txBody>
      </p:sp>
      <p:sp>
        <p:nvSpPr>
          <p:cNvPr id="19" name="Text 17"/>
          <p:cNvSpPr/>
          <p:nvPr/>
        </p:nvSpPr>
        <p:spPr>
          <a:xfrm>
            <a:off x="585216" y="3685032"/>
            <a:ext cx="7132320" cy="3840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Uses simple XOR gates, the standard parity building block.</a:t>
            </a:r>
            <a:endParaRPr lang="en-US" sz="1300" dirty="0"/>
          </a:p>
        </p:txBody>
      </p:sp>
      <p:sp>
        <p:nvSpPr>
          <p:cNvPr id="20" name="Shape 18"/>
          <p:cNvSpPr/>
          <p:nvPr/>
        </p:nvSpPr>
        <p:spPr>
          <a:xfrm>
            <a:off x="411480" y="4261104"/>
            <a:ext cx="7452360" cy="868680"/>
          </a:xfrm>
          <a:prstGeom prst="rect">
            <a:avLst/>
          </a:prstGeom>
          <a:solidFill>
            <a:srgbClr val="EFE9DE"/>
          </a:solidFill>
          <a:ln/>
        </p:spPr>
      </p:sp>
      <p:sp>
        <p:nvSpPr>
          <p:cNvPr id="21" name="Text 19"/>
          <p:cNvSpPr/>
          <p:nvPr/>
        </p:nvSpPr>
        <p:spPr>
          <a:xfrm>
            <a:off x="585216" y="4352544"/>
            <a:ext cx="7132320" cy="256032"/>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Clear output</a:t>
            </a:r>
            <a:endParaRPr lang="en-US" sz="1500" dirty="0"/>
          </a:p>
        </p:txBody>
      </p:sp>
      <p:sp>
        <p:nvSpPr>
          <p:cNvPr id="22" name="Text 20"/>
          <p:cNvSpPr/>
          <p:nvPr/>
        </p:nvSpPr>
        <p:spPr>
          <a:xfrm>
            <a:off x="585216" y="4645152"/>
            <a:ext cx="7132320" cy="3840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An LED or flag shows Error or No Error immediately.</a:t>
            </a:r>
            <a:endParaRPr lang="en-US" sz="1300" dirty="0"/>
          </a:p>
        </p:txBody>
      </p:sp>
      <p:sp>
        <p:nvSpPr>
          <p:cNvPr id="23" name="Shape 21"/>
          <p:cNvSpPr/>
          <p:nvPr/>
        </p:nvSpPr>
        <p:spPr>
          <a:xfrm>
            <a:off x="411480" y="5221224"/>
            <a:ext cx="7452360" cy="868680"/>
          </a:xfrm>
          <a:prstGeom prst="rect">
            <a:avLst/>
          </a:prstGeom>
          <a:solidFill>
            <a:srgbClr val="EFE9DE"/>
          </a:solidFill>
          <a:ln/>
        </p:spPr>
      </p:sp>
      <p:sp>
        <p:nvSpPr>
          <p:cNvPr id="24" name="Text 22"/>
          <p:cNvSpPr/>
          <p:nvPr/>
        </p:nvSpPr>
        <p:spPr>
          <a:xfrm>
            <a:off x="585216" y="5312664"/>
            <a:ext cx="7132320" cy="256032"/>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Easy to simulate</a:t>
            </a:r>
            <a:endParaRPr lang="en-US" sz="1500" dirty="0"/>
          </a:p>
        </p:txBody>
      </p:sp>
      <p:sp>
        <p:nvSpPr>
          <p:cNvPr id="25" name="Text 23"/>
          <p:cNvSpPr/>
          <p:nvPr/>
        </p:nvSpPr>
        <p:spPr>
          <a:xfrm>
            <a:off x="585216" y="5605272"/>
            <a:ext cx="7132320" cy="3840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The full path can be built and tested in Logisim.</a:t>
            </a:r>
            <a:endParaRPr lang="en-US" sz="1300" dirty="0"/>
          </a:p>
        </p:txBody>
      </p:sp>
      <p:pic>
        <p:nvPicPr>
          <p:cNvPr id="26" name="Image 0" descr="/home/workdir/artifacts/ppt_imgs/s6_4.png"/>
          <p:cNvPicPr>
            <a:picLocks noChangeAspect="1"/>
          </p:cNvPicPr>
          <p:nvPr/>
        </p:nvPicPr>
        <p:blipFill>
          <a:blip r:embed="rId1"/>
          <a:stretch>
            <a:fillRect/>
          </a:stretch>
        </p:blipFill>
        <p:spPr>
          <a:xfrm>
            <a:off x="8092440" y="987552"/>
            <a:ext cx="3840480" cy="45278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07  SYSTEM ARCHITECTURE</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MODULES AND DATA FLOW</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System Architecture / Block Diagram</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07 / 10</a:t>
            </a:r>
            <a:endParaRPr lang="en-US" sz="900" dirty="0"/>
          </a:p>
        </p:txBody>
      </p:sp>
      <p:sp>
        <p:nvSpPr>
          <p:cNvPr id="11" name="Shape 9"/>
          <p:cNvSpPr/>
          <p:nvPr/>
        </p:nvSpPr>
        <p:spPr>
          <a:xfrm>
            <a:off x="411480" y="1005840"/>
            <a:ext cx="7360920" cy="896112"/>
          </a:xfrm>
          <a:prstGeom prst="rect">
            <a:avLst/>
          </a:prstGeom>
          <a:solidFill>
            <a:srgbClr val="EFE9DE"/>
          </a:solidFill>
          <a:ln/>
        </p:spPr>
      </p:sp>
      <p:sp>
        <p:nvSpPr>
          <p:cNvPr id="12" name="Text 10"/>
          <p:cNvSpPr/>
          <p:nvPr/>
        </p:nvSpPr>
        <p:spPr>
          <a:xfrm>
            <a:off x="566928" y="1078992"/>
            <a:ext cx="7040880" cy="274320"/>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1  Input Data</a:t>
            </a:r>
            <a:endParaRPr lang="en-US" sz="1600" dirty="0"/>
          </a:p>
        </p:txBody>
      </p:sp>
      <p:sp>
        <p:nvSpPr>
          <p:cNvPr id="13" name="Text 11"/>
          <p:cNvSpPr/>
          <p:nvPr/>
        </p:nvSpPr>
        <p:spPr>
          <a:xfrm>
            <a:off x="566928" y="1371600"/>
            <a:ext cx="7040880" cy="384048"/>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Accepts 4-bit binary data D3–D0.</a:t>
            </a:r>
            <a:endParaRPr lang="en-US" sz="1400" dirty="0"/>
          </a:p>
        </p:txBody>
      </p:sp>
      <p:sp>
        <p:nvSpPr>
          <p:cNvPr id="14" name="Shape 12"/>
          <p:cNvSpPr/>
          <p:nvPr/>
        </p:nvSpPr>
        <p:spPr>
          <a:xfrm>
            <a:off x="411480" y="1993392"/>
            <a:ext cx="7360920" cy="896112"/>
          </a:xfrm>
          <a:prstGeom prst="rect">
            <a:avLst/>
          </a:prstGeom>
          <a:solidFill>
            <a:srgbClr val="EFE9DE"/>
          </a:solidFill>
          <a:ln/>
        </p:spPr>
      </p:sp>
      <p:sp>
        <p:nvSpPr>
          <p:cNvPr id="15" name="Text 13"/>
          <p:cNvSpPr/>
          <p:nvPr/>
        </p:nvSpPr>
        <p:spPr>
          <a:xfrm>
            <a:off x="566928" y="2066544"/>
            <a:ext cx="7040880" cy="274320"/>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2  Parity Generator</a:t>
            </a:r>
            <a:endParaRPr lang="en-US" sz="1600" dirty="0"/>
          </a:p>
        </p:txBody>
      </p:sp>
      <p:sp>
        <p:nvSpPr>
          <p:cNvPr id="16" name="Text 14"/>
          <p:cNvSpPr/>
          <p:nvPr/>
        </p:nvSpPr>
        <p:spPr>
          <a:xfrm>
            <a:off x="566928" y="2359152"/>
            <a:ext cx="7040880" cy="384048"/>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XOR network creates parity bit P.</a:t>
            </a:r>
            <a:endParaRPr lang="en-US" sz="1400" dirty="0"/>
          </a:p>
        </p:txBody>
      </p:sp>
      <p:sp>
        <p:nvSpPr>
          <p:cNvPr id="17" name="Shape 15"/>
          <p:cNvSpPr/>
          <p:nvPr/>
        </p:nvSpPr>
        <p:spPr>
          <a:xfrm>
            <a:off x="411480" y="2980944"/>
            <a:ext cx="7360920" cy="896112"/>
          </a:xfrm>
          <a:prstGeom prst="rect">
            <a:avLst/>
          </a:prstGeom>
          <a:solidFill>
            <a:srgbClr val="EFE9DE"/>
          </a:solidFill>
          <a:ln/>
        </p:spPr>
      </p:sp>
      <p:sp>
        <p:nvSpPr>
          <p:cNvPr id="18" name="Text 16"/>
          <p:cNvSpPr/>
          <p:nvPr/>
        </p:nvSpPr>
        <p:spPr>
          <a:xfrm>
            <a:off x="566928" y="3054096"/>
            <a:ext cx="7040880" cy="274320"/>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3  Transmission Channel</a:t>
            </a:r>
            <a:endParaRPr lang="en-US" sz="1600" dirty="0"/>
          </a:p>
        </p:txBody>
      </p:sp>
      <p:sp>
        <p:nvSpPr>
          <p:cNvPr id="19" name="Text 17"/>
          <p:cNvSpPr/>
          <p:nvPr/>
        </p:nvSpPr>
        <p:spPr>
          <a:xfrm>
            <a:off x="566928" y="3346704"/>
            <a:ext cx="7040880" cy="384048"/>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Sends data + P. Noise may flip a bit.</a:t>
            </a:r>
            <a:endParaRPr lang="en-US" sz="1400" dirty="0"/>
          </a:p>
        </p:txBody>
      </p:sp>
      <p:sp>
        <p:nvSpPr>
          <p:cNvPr id="20" name="Shape 18"/>
          <p:cNvSpPr/>
          <p:nvPr/>
        </p:nvSpPr>
        <p:spPr>
          <a:xfrm>
            <a:off x="411480" y="3968496"/>
            <a:ext cx="7360920" cy="896112"/>
          </a:xfrm>
          <a:prstGeom prst="rect">
            <a:avLst/>
          </a:prstGeom>
          <a:solidFill>
            <a:srgbClr val="EFE9DE"/>
          </a:solidFill>
          <a:ln/>
        </p:spPr>
      </p:sp>
      <p:sp>
        <p:nvSpPr>
          <p:cNvPr id="21" name="Text 19"/>
          <p:cNvSpPr/>
          <p:nvPr/>
        </p:nvSpPr>
        <p:spPr>
          <a:xfrm>
            <a:off x="566928" y="4041648"/>
            <a:ext cx="7040880" cy="274320"/>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4  Parity Checker</a:t>
            </a:r>
            <a:endParaRPr lang="en-US" sz="1600" dirty="0"/>
          </a:p>
        </p:txBody>
      </p:sp>
      <p:sp>
        <p:nvSpPr>
          <p:cNvPr id="22" name="Text 20"/>
          <p:cNvSpPr/>
          <p:nvPr/>
        </p:nvSpPr>
        <p:spPr>
          <a:xfrm>
            <a:off x="566928" y="4334256"/>
            <a:ext cx="7040880" cy="384048"/>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Recomputes parity on received bits.</a:t>
            </a:r>
            <a:endParaRPr lang="en-US" sz="1400" dirty="0"/>
          </a:p>
        </p:txBody>
      </p:sp>
      <p:sp>
        <p:nvSpPr>
          <p:cNvPr id="23" name="Shape 21"/>
          <p:cNvSpPr/>
          <p:nvPr/>
        </p:nvSpPr>
        <p:spPr>
          <a:xfrm>
            <a:off x="411480" y="4956048"/>
            <a:ext cx="7360920" cy="896112"/>
          </a:xfrm>
          <a:prstGeom prst="rect">
            <a:avLst/>
          </a:prstGeom>
          <a:solidFill>
            <a:srgbClr val="EFE9DE"/>
          </a:solidFill>
          <a:ln/>
        </p:spPr>
      </p:sp>
      <p:sp>
        <p:nvSpPr>
          <p:cNvPr id="24" name="Text 22"/>
          <p:cNvSpPr/>
          <p:nvPr/>
        </p:nvSpPr>
        <p:spPr>
          <a:xfrm>
            <a:off x="566928" y="5029200"/>
            <a:ext cx="7040880" cy="274320"/>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5  Output</a:t>
            </a:r>
            <a:endParaRPr lang="en-US" sz="1600" dirty="0"/>
          </a:p>
        </p:txBody>
      </p:sp>
      <p:sp>
        <p:nvSpPr>
          <p:cNvPr id="25" name="Text 23"/>
          <p:cNvSpPr/>
          <p:nvPr/>
        </p:nvSpPr>
        <p:spPr>
          <a:xfrm>
            <a:off x="566928" y="5321808"/>
            <a:ext cx="7040880" cy="384048"/>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Shows No Error or Error Detected.</a:t>
            </a:r>
            <a:endParaRPr lang="en-US" sz="1400" dirty="0"/>
          </a:p>
        </p:txBody>
      </p:sp>
      <p:pic>
        <p:nvPicPr>
          <p:cNvPr id="26" name="Image 0" descr="/home/workdir/artifacts/ppt_imgs/s7_5.png"/>
          <p:cNvPicPr>
            <a:picLocks noChangeAspect="1"/>
          </p:cNvPicPr>
          <p:nvPr/>
        </p:nvPicPr>
        <p:blipFill>
          <a:blip r:embed="rId1"/>
          <a:stretch>
            <a:fillRect/>
          </a:stretch>
        </p:blipFill>
        <p:spPr>
          <a:xfrm>
            <a:off x="8046720" y="987552"/>
            <a:ext cx="1195552" cy="525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08  METHODOLOGY</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DESIGN  ·  COMPONENTS  ·  WORKING</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Methodology / Implementation</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08 / 10</a:t>
            </a:r>
            <a:endParaRPr lang="en-US" sz="900" dirty="0"/>
          </a:p>
        </p:txBody>
      </p:sp>
      <p:sp>
        <p:nvSpPr>
          <p:cNvPr id="11" name="Text 9"/>
          <p:cNvSpPr/>
          <p:nvPr/>
        </p:nvSpPr>
        <p:spPr>
          <a:xfrm>
            <a:off x="411480" y="960120"/>
            <a:ext cx="5760720" cy="237744"/>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Design steps</a:t>
            </a:r>
            <a:endParaRPr lang="en-US" sz="1500" dirty="0"/>
          </a:p>
        </p:txBody>
      </p:sp>
      <p:sp>
        <p:nvSpPr>
          <p:cNvPr id="12" name="Shape 10"/>
          <p:cNvSpPr/>
          <p:nvPr/>
        </p:nvSpPr>
        <p:spPr>
          <a:xfrm>
            <a:off x="411480" y="1207008"/>
            <a:ext cx="5806440" cy="301752"/>
          </a:xfrm>
          <a:prstGeom prst="rect">
            <a:avLst/>
          </a:prstGeom>
          <a:solidFill>
            <a:srgbClr val="EFE9DE"/>
          </a:solidFill>
          <a:ln/>
        </p:spPr>
      </p:sp>
      <p:sp>
        <p:nvSpPr>
          <p:cNvPr id="13" name="Text 11"/>
          <p:cNvSpPr/>
          <p:nvPr/>
        </p:nvSpPr>
        <p:spPr>
          <a:xfrm>
            <a:off x="530352" y="1243584"/>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1.  Take the 4-bit binary input.</a:t>
            </a:r>
            <a:endParaRPr lang="en-US" sz="1300" dirty="0"/>
          </a:p>
        </p:txBody>
      </p:sp>
      <p:sp>
        <p:nvSpPr>
          <p:cNvPr id="14" name="Shape 12"/>
          <p:cNvSpPr/>
          <p:nvPr/>
        </p:nvSpPr>
        <p:spPr>
          <a:xfrm>
            <a:off x="411480" y="1522476"/>
            <a:ext cx="5806440" cy="301752"/>
          </a:xfrm>
          <a:prstGeom prst="rect">
            <a:avLst/>
          </a:prstGeom>
          <a:solidFill>
            <a:srgbClr val="EFE9DE"/>
          </a:solidFill>
          <a:ln/>
        </p:spPr>
      </p:sp>
      <p:sp>
        <p:nvSpPr>
          <p:cNvPr id="15" name="Text 13"/>
          <p:cNvSpPr/>
          <p:nvPr/>
        </p:nvSpPr>
        <p:spPr>
          <a:xfrm>
            <a:off x="530352" y="1559052"/>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2.  Generate parity P using XOR gates.</a:t>
            </a:r>
            <a:endParaRPr lang="en-US" sz="1300" dirty="0"/>
          </a:p>
        </p:txBody>
      </p:sp>
      <p:sp>
        <p:nvSpPr>
          <p:cNvPr id="16" name="Shape 14"/>
          <p:cNvSpPr/>
          <p:nvPr/>
        </p:nvSpPr>
        <p:spPr>
          <a:xfrm>
            <a:off x="411480" y="1837944"/>
            <a:ext cx="5806440" cy="301752"/>
          </a:xfrm>
          <a:prstGeom prst="rect">
            <a:avLst/>
          </a:prstGeom>
          <a:solidFill>
            <a:srgbClr val="EFE9DE"/>
          </a:solidFill>
          <a:ln/>
        </p:spPr>
      </p:sp>
      <p:sp>
        <p:nvSpPr>
          <p:cNvPr id="17" name="Text 15"/>
          <p:cNvSpPr/>
          <p:nvPr/>
        </p:nvSpPr>
        <p:spPr>
          <a:xfrm>
            <a:off x="530352" y="1874520"/>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3.  Combine data bits with P.</a:t>
            </a:r>
            <a:endParaRPr lang="en-US" sz="1300" dirty="0"/>
          </a:p>
        </p:txBody>
      </p:sp>
      <p:sp>
        <p:nvSpPr>
          <p:cNvPr id="18" name="Shape 16"/>
          <p:cNvSpPr/>
          <p:nvPr/>
        </p:nvSpPr>
        <p:spPr>
          <a:xfrm>
            <a:off x="411480" y="2153412"/>
            <a:ext cx="5806440" cy="301752"/>
          </a:xfrm>
          <a:prstGeom prst="rect">
            <a:avLst/>
          </a:prstGeom>
          <a:solidFill>
            <a:srgbClr val="EFE9DE"/>
          </a:solidFill>
          <a:ln/>
        </p:spPr>
      </p:sp>
      <p:sp>
        <p:nvSpPr>
          <p:cNvPr id="19" name="Text 17"/>
          <p:cNvSpPr/>
          <p:nvPr/>
        </p:nvSpPr>
        <p:spPr>
          <a:xfrm>
            <a:off x="530352" y="2189988"/>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4.  Send the word through the channel.</a:t>
            </a:r>
            <a:endParaRPr lang="en-US" sz="1300" dirty="0"/>
          </a:p>
        </p:txBody>
      </p:sp>
      <p:sp>
        <p:nvSpPr>
          <p:cNvPr id="20" name="Shape 18"/>
          <p:cNvSpPr/>
          <p:nvPr/>
        </p:nvSpPr>
        <p:spPr>
          <a:xfrm>
            <a:off x="411480" y="2468880"/>
            <a:ext cx="5806440" cy="301752"/>
          </a:xfrm>
          <a:prstGeom prst="rect">
            <a:avLst/>
          </a:prstGeom>
          <a:solidFill>
            <a:srgbClr val="EFE9DE"/>
          </a:solidFill>
          <a:ln/>
        </p:spPr>
      </p:sp>
      <p:sp>
        <p:nvSpPr>
          <p:cNvPr id="21" name="Text 19"/>
          <p:cNvSpPr/>
          <p:nvPr/>
        </p:nvSpPr>
        <p:spPr>
          <a:xfrm>
            <a:off x="530352" y="2505456"/>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5.  Check received bits in the checker.</a:t>
            </a:r>
            <a:endParaRPr lang="en-US" sz="1300" dirty="0"/>
          </a:p>
        </p:txBody>
      </p:sp>
      <p:sp>
        <p:nvSpPr>
          <p:cNvPr id="22" name="Shape 20"/>
          <p:cNvSpPr/>
          <p:nvPr/>
        </p:nvSpPr>
        <p:spPr>
          <a:xfrm>
            <a:off x="411480" y="2784348"/>
            <a:ext cx="5806440" cy="301752"/>
          </a:xfrm>
          <a:prstGeom prst="rect">
            <a:avLst/>
          </a:prstGeom>
          <a:solidFill>
            <a:srgbClr val="EFE9DE"/>
          </a:solidFill>
          <a:ln/>
        </p:spPr>
      </p:sp>
      <p:sp>
        <p:nvSpPr>
          <p:cNvPr id="23" name="Text 21"/>
          <p:cNvSpPr/>
          <p:nvPr/>
        </p:nvSpPr>
        <p:spPr>
          <a:xfrm>
            <a:off x="530352" y="2820924"/>
            <a:ext cx="5577840" cy="237744"/>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6.  Display Error or No Error.</a:t>
            </a:r>
            <a:endParaRPr lang="en-US" sz="1300" dirty="0"/>
          </a:p>
        </p:txBody>
      </p:sp>
      <p:sp>
        <p:nvSpPr>
          <p:cNvPr id="24" name="Text 22"/>
          <p:cNvSpPr/>
          <p:nvPr/>
        </p:nvSpPr>
        <p:spPr>
          <a:xfrm>
            <a:off x="6400800" y="960120"/>
            <a:ext cx="5394960" cy="237744"/>
          </a:xfrm>
          <a:prstGeom prst="rect">
            <a:avLst/>
          </a:prstGeom>
          <a:noFill/>
          <a:ln/>
        </p:spPr>
        <p:txBody>
          <a:bodyPr wrap="square" rtlCol="0" anchor="ctr"/>
          <a:lstStyle/>
          <a:p>
            <a:pPr indent="0" marL="0">
              <a:buNone/>
            </a:pPr>
            <a:r>
              <a:rPr lang="en-US" sz="1500" b="1" dirty="0">
                <a:solidFill>
                  <a:srgbClr val="1A1714"/>
                </a:solidFill>
                <a:latin typeface="Georgia" pitchFamily="34" charset="0"/>
                <a:ea typeface="Georgia" pitchFamily="34" charset="-122"/>
                <a:cs typeface="Georgia" pitchFamily="34" charset="-120"/>
              </a:rPr>
              <a:t>Working principle</a:t>
            </a:r>
            <a:endParaRPr lang="en-US" sz="1500" dirty="0"/>
          </a:p>
        </p:txBody>
      </p:sp>
      <p:sp>
        <p:nvSpPr>
          <p:cNvPr id="25" name="Shape 23"/>
          <p:cNvSpPr/>
          <p:nvPr/>
        </p:nvSpPr>
        <p:spPr>
          <a:xfrm>
            <a:off x="6400800" y="1243584"/>
            <a:ext cx="5376672" cy="1417320"/>
          </a:xfrm>
          <a:prstGeom prst="rect">
            <a:avLst/>
          </a:prstGeom>
          <a:solidFill>
            <a:srgbClr val="1E3A4C"/>
          </a:solidFill>
          <a:ln/>
        </p:spPr>
      </p:sp>
      <p:sp>
        <p:nvSpPr>
          <p:cNvPr id="26" name="Text 24"/>
          <p:cNvSpPr/>
          <p:nvPr/>
        </p:nvSpPr>
        <p:spPr>
          <a:xfrm>
            <a:off x="6547104" y="1371600"/>
            <a:ext cx="5084064" cy="117043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sender adds P so the chosen parity (even or odd) is true. The receiver computes parity again. Match → No Error. Mismatch → Error Detected.</a:t>
            </a:r>
            <a:endParaRPr lang="en-US" sz="1400" dirty="0"/>
          </a:p>
        </p:txBody>
      </p:sp>
      <p:pic>
        <p:nvPicPr>
          <p:cNvPr id="29" name="Image Generator" descr="Logisim even parity generator"/>
          <p:cNvPicPr>
            <a:picLocks noChangeAspect="1"/>
          </p:cNvPicPr>
          <p:nvPr/>
        </p:nvPicPr>
        <p:blipFill>
          <a:blip r:embed="rId5"/>
          <a:stretch>
            <a:fillRect/>
          </a:stretch>
        </p:blipFill>
        <p:spPr>
          <a:xfrm>
            <a:off x="426568" y="3200400"/>
            <a:ext cx="3846766" cy="2241324"/>
          </a:xfrm>
          <a:prstGeom prst="rect">
            <a:avLst/>
          </a:prstGeom>
          <a:ln w="6350">
            <a:solidFill>
              <a:srgbClr val="C9C1B6"/>
            </a:solidFill>
          </a:ln>
        </p:spPr>
      </p:pic>
      <p:pic>
        <p:nvPicPr>
          <p:cNvPr id="30" name="Image Checker" descr="Logisim parity checker"/>
          <p:cNvPicPr>
            <a:picLocks noChangeAspect="1"/>
          </p:cNvPicPr>
          <p:nvPr/>
        </p:nvPicPr>
        <p:blipFill>
          <a:blip r:embed="rId6"/>
          <a:stretch>
            <a:fillRect/>
          </a:stretch>
        </p:blipFill>
        <p:spPr>
          <a:xfrm>
            <a:off x="4401350" y="3200400"/>
            <a:ext cx="3170719" cy="2241324"/>
          </a:xfrm>
          <a:prstGeom prst="rect">
            <a:avLst/>
          </a:prstGeom>
          <a:ln w="6350">
            <a:solidFill>
              <a:srgbClr val="C9C1B6"/>
            </a:solidFill>
          </a:ln>
        </p:spPr>
      </p:pic>
      <p:sp>
        <p:nvSpPr>
          <p:cNvPr id="31" name="Caption Generator"/>
          <p:cNvSpPr/>
          <p:nvPr/>
        </p:nvSpPr>
        <p:spPr>
          <a:xfrm>
            <a:off x="426568" y="5469156"/>
            <a:ext cx="3846766" cy="201168"/>
          </a:xfrm>
          <a:prstGeom prst="rect">
            <a:avLst/>
          </a:prstGeom>
          <a:noFill/>
          <a:ln/>
        </p:spPr>
        <p:txBody>
          <a:bodyPr wrap="square" rtlCol="0" anchor="ctr"/>
          <a:lstStyle/>
          <a:p>
            <a:pPr algn="ctr" indent="0" marL="0">
              <a:buNone/>
            </a:pPr>
            <a:r>
              <a:rPr lang="en-US" sz="1100" b="1" dirty="0">
                <a:solidFill>
                  <a:srgbClr val="1E3A4C"/>
                </a:solidFill>
                <a:latin typeface="Georgia" pitchFamily="34" charset="0"/>
              </a:rPr>
              <a:t>Parity Generator (Logisim)</a:t>
            </a:r>
          </a:p>
        </p:txBody>
      </p:sp>
      <p:sp>
        <p:nvSpPr>
          <p:cNvPr id="32" name="Caption Checker"/>
          <p:cNvSpPr/>
          <p:nvPr/>
        </p:nvSpPr>
        <p:spPr>
          <a:xfrm>
            <a:off x="4401350" y="5469156"/>
            <a:ext cx="3170719" cy="201168"/>
          </a:xfrm>
          <a:prstGeom prst="rect">
            <a:avLst/>
          </a:prstGeom>
          <a:noFill/>
          <a:ln/>
        </p:spPr>
        <p:txBody>
          <a:bodyPr wrap="square" rtlCol="0" anchor="ctr"/>
          <a:lstStyle/>
          <a:p>
            <a:pPr algn="ctr" indent="0" marL="0">
              <a:buNone/>
            </a:pPr>
            <a:r>
              <a:rPr lang="en-US" sz="1100" b="1" dirty="0">
                <a:solidFill>
                  <a:srgbClr val="1E3A4C"/>
                </a:solidFill>
                <a:latin typeface="Georgia" pitchFamily="34" charset="0"/>
              </a:rPr>
              <a:t>Parity Checker (Logisim)</a:t>
            </a:r>
          </a:p>
        </p:txBody>
      </p:sp>
      <p:pic>
        <p:nvPicPr>
          <p:cNvPr id="33" name="Image Checker LED" descr="Parity checker with LED output"/>
          <p:cNvPicPr>
            <a:picLocks noChangeAspect="1"/>
          </p:cNvPicPr>
          <p:nvPr/>
        </p:nvPicPr>
        <p:blipFill>
          <a:blip r:embed="rId7"/>
          <a:stretch>
            <a:fillRect/>
          </a:stretch>
        </p:blipFill>
        <p:spPr>
          <a:xfrm>
            <a:off x="7700085" y="3200400"/>
            <a:ext cx="4065043" cy="2241324"/>
          </a:xfrm>
          <a:prstGeom prst="rect">
            <a:avLst/>
          </a:prstGeom>
          <a:ln w="6350">
            <a:solidFill>
              <a:srgbClr val="C9C1B6"/>
            </a:solidFill>
          </a:ln>
        </p:spPr>
      </p:pic>
      <p:sp>
        <p:nvSpPr>
          <p:cNvPr id="34" name="Caption Checker LED"/>
          <p:cNvSpPr/>
          <p:nvPr/>
        </p:nvSpPr>
        <p:spPr>
          <a:xfrm>
            <a:off x="7700085" y="5469156"/>
            <a:ext cx="4065043" cy="201168"/>
          </a:xfrm>
          <a:prstGeom prst="rect">
            <a:avLst/>
          </a:prstGeom>
          <a:noFill/>
          <a:ln/>
        </p:spPr>
        <p:txBody>
          <a:bodyPr wrap="square" rtlCol="0" anchor="ctr"/>
          <a:lstStyle/>
          <a:p>
            <a:pPr algn="ctr" indent="0" marL="0">
              <a:buNone/>
            </a:pPr>
            <a:r>
              <a:rPr lang="en-US" sz="1000" b="1" dirty="0">
                <a:solidFill>
                  <a:srgbClr val="1E3A4C"/>
                </a:solidFill>
                <a:latin typeface="Georgia" pitchFamily="34" charset="0"/>
              </a:rPr>
              <a:t>Parity Checker with 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09  RESULTS AND DISCUSSION</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CIRCUIT OUTPUTS AND TEST CASES</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Results and Discussion</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09 / 10</a:t>
            </a:r>
            <a:endParaRPr lang="en-US" sz="900" dirty="0"/>
          </a:p>
        </p:txBody>
      </p:sp>
      <p:sp>
        <p:nvSpPr>
          <p:cNvPr id="11" name="Text 9"/>
          <p:cNvSpPr/>
          <p:nvPr/>
        </p:nvSpPr>
        <p:spPr>
          <a:xfrm>
            <a:off x="411480" y="932688"/>
            <a:ext cx="5669280" cy="219456"/>
          </a:xfrm>
          <a:prstGeom prst="rect">
            <a:avLst/>
          </a:prstGeom>
          <a:noFill/>
          <a:ln/>
        </p:spPr>
        <p:txBody>
          <a:bodyPr wrap="square" rtlCol="0" anchor="ctr"/>
          <a:lstStyle/>
          <a:p>
            <a:pPr indent="0" marL="0">
              <a:buNone/>
            </a:pPr>
            <a:r>
              <a:rPr lang="en-US" sz="1300" b="1" dirty="0">
                <a:solidFill>
                  <a:srgbClr val="1A1714"/>
                </a:solidFill>
                <a:latin typeface="Calibri" pitchFamily="34" charset="0"/>
                <a:ea typeface="Calibri" pitchFamily="34" charset="-122"/>
                <a:cs typeface="Calibri" pitchFamily="34" charset="-120"/>
              </a:rPr>
              <a:t>Sender — 4-bit Even Parity Generator</a:t>
            </a:r>
            <a:endParaRPr lang="en-US" sz="1300" dirty="0"/>
          </a:p>
        </p:txBody>
      </p:sp>
      <p:sp>
        <p:nvSpPr>
          <p:cNvPr id="12" name="Text 10"/>
          <p:cNvSpPr/>
          <p:nvPr/>
        </p:nvSpPr>
        <p:spPr>
          <a:xfrm>
            <a:off x="6263640" y="932688"/>
            <a:ext cx="5532120" cy="219456"/>
          </a:xfrm>
          <a:prstGeom prst="rect">
            <a:avLst/>
          </a:prstGeom>
          <a:noFill/>
          <a:ln/>
        </p:spPr>
        <p:txBody>
          <a:bodyPr wrap="square" rtlCol="0" anchor="ctr"/>
          <a:lstStyle/>
          <a:p>
            <a:pPr indent="0" marL="0">
              <a:buNone/>
            </a:pPr>
            <a:r>
              <a:rPr lang="en-US" sz="1300" b="1" dirty="0">
                <a:solidFill>
                  <a:srgbClr val="1A1714"/>
                </a:solidFill>
                <a:latin typeface="Calibri" pitchFamily="34" charset="0"/>
                <a:ea typeface="Calibri" pitchFamily="34" charset="-122"/>
                <a:cs typeface="Calibri" pitchFamily="34" charset="-120"/>
              </a:rPr>
              <a:t>Receiver — Parity Checker (Error Detected)</a:t>
            </a:r>
            <a:endParaRPr lang="en-US" sz="1300" dirty="0"/>
          </a:p>
        </p:txBody>
      </p:sp>
      <p:pic>
        <p:nvPicPr>
          <p:cNvPr id="13" name="Image 0" descr="/home/workdir/artifacts/ppt_imgs/s10_8.png"/>
          <p:cNvPicPr>
            <a:picLocks noChangeAspect="1"/>
          </p:cNvPicPr>
          <p:nvPr/>
        </p:nvPicPr>
        <p:blipFill>
          <a:blip r:embed="rId1"/>
          <a:stretch>
            <a:fillRect/>
          </a:stretch>
        </p:blipFill>
        <p:spPr>
          <a:xfrm>
            <a:off x="411480" y="1188720"/>
            <a:ext cx="5669280" cy="3037215"/>
          </a:xfrm>
          <a:prstGeom prst="rect">
            <a:avLst/>
          </a:prstGeom>
        </p:spPr>
      </p:pic>
      <p:pic>
        <p:nvPicPr>
          <p:cNvPr id="14" name="Image 1" descr="/home/workdir/artifacts/ppt_imgs/s10_9.png"/>
          <p:cNvPicPr>
            <a:picLocks noChangeAspect="1"/>
          </p:cNvPicPr>
          <p:nvPr/>
        </p:nvPicPr>
        <p:blipFill>
          <a:blip r:embed="rId2"/>
          <a:stretch>
            <a:fillRect/>
          </a:stretch>
        </p:blipFill>
        <p:spPr>
          <a:xfrm>
            <a:off x="6263640" y="1188720"/>
            <a:ext cx="4979234" cy="3063240"/>
          </a:xfrm>
          <a:prstGeom prst="rect">
            <a:avLst/>
          </a:prstGeom>
        </p:spPr>
      </p:pic>
      <p:sp>
        <p:nvSpPr>
          <p:cNvPr id="15" name="Shape 11"/>
          <p:cNvSpPr/>
          <p:nvPr/>
        </p:nvSpPr>
        <p:spPr>
          <a:xfrm>
            <a:off x="411480" y="4407408"/>
            <a:ext cx="5669280" cy="1828800"/>
          </a:xfrm>
          <a:prstGeom prst="rect">
            <a:avLst/>
          </a:prstGeom>
          <a:solidFill>
            <a:srgbClr val="EFE9DE"/>
          </a:solidFill>
          <a:ln/>
        </p:spPr>
      </p:sp>
      <p:sp>
        <p:nvSpPr>
          <p:cNvPr id="16" name="Text 12"/>
          <p:cNvSpPr/>
          <p:nvPr/>
        </p:nvSpPr>
        <p:spPr>
          <a:xfrm>
            <a:off x="548640" y="4498848"/>
            <a:ext cx="5394960" cy="256032"/>
          </a:xfrm>
          <a:prstGeom prst="rect">
            <a:avLst/>
          </a:prstGeom>
          <a:noFill/>
          <a:ln/>
        </p:spPr>
        <p:txBody>
          <a:bodyPr wrap="square" rtlCol="0" anchor="ctr"/>
          <a:lstStyle/>
          <a:p>
            <a:pPr indent="0" marL="0">
              <a:buNone/>
            </a:pPr>
            <a:r>
              <a:rPr lang="en-US" sz="1400" b="1" dirty="0">
                <a:solidFill>
                  <a:srgbClr val="1A1714"/>
                </a:solidFill>
                <a:latin typeface="Georgia" pitchFamily="34" charset="0"/>
                <a:ea typeface="Georgia" pitchFamily="34" charset="-122"/>
                <a:cs typeface="Georgia" pitchFamily="34" charset="-120"/>
              </a:rPr>
              <a:t>What the simulation shows</a:t>
            </a:r>
            <a:endParaRPr lang="en-US" sz="1400" dirty="0"/>
          </a:p>
        </p:txBody>
      </p:sp>
      <p:sp>
        <p:nvSpPr>
          <p:cNvPr id="17" name="Text 13"/>
          <p:cNvSpPr/>
          <p:nvPr/>
        </p:nvSpPr>
        <p:spPr>
          <a:xfrm>
            <a:off x="548640" y="4791456"/>
            <a:ext cx="5394960" cy="12984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For data 1 0 1 1, even parity P = 1. If a bit flips on the way (example: D2), the checker XOR of all 5 received bits becomes 1 and the LED shows Error Detected.</a:t>
            </a:r>
            <a:endParaRPr lang="en-US" sz="1300" dirty="0"/>
          </a:p>
        </p:txBody>
      </p:sp>
      <p:sp>
        <p:nvSpPr>
          <p:cNvPr id="18" name="Shape 14"/>
          <p:cNvSpPr/>
          <p:nvPr/>
        </p:nvSpPr>
        <p:spPr>
          <a:xfrm>
            <a:off x="6263640" y="4407408"/>
            <a:ext cx="5513832" cy="1828800"/>
          </a:xfrm>
          <a:prstGeom prst="rect">
            <a:avLst/>
          </a:prstGeom>
          <a:solidFill>
            <a:srgbClr val="EFE9DE"/>
          </a:solidFill>
          <a:ln/>
        </p:spPr>
      </p:sp>
      <p:sp>
        <p:nvSpPr>
          <p:cNvPr id="19" name="Text 15"/>
          <p:cNvSpPr/>
          <p:nvPr/>
        </p:nvSpPr>
        <p:spPr>
          <a:xfrm>
            <a:off x="6400800" y="4498848"/>
            <a:ext cx="5212080" cy="256032"/>
          </a:xfrm>
          <a:prstGeom prst="rect">
            <a:avLst/>
          </a:prstGeom>
          <a:noFill/>
          <a:ln/>
        </p:spPr>
        <p:txBody>
          <a:bodyPr wrap="square" rtlCol="0" anchor="ctr"/>
          <a:lstStyle/>
          <a:p>
            <a:pPr indent="0" marL="0">
              <a:buNone/>
            </a:pPr>
            <a:r>
              <a:rPr lang="en-US" sz="1400" b="1" dirty="0">
                <a:solidFill>
                  <a:srgbClr val="1A1714"/>
                </a:solidFill>
                <a:latin typeface="Georgia" pitchFamily="34" charset="0"/>
                <a:ea typeface="Georgia" pitchFamily="34" charset="-122"/>
                <a:cs typeface="Georgia" pitchFamily="34" charset="-120"/>
              </a:rPr>
              <a:t>Discussion</a:t>
            </a:r>
            <a:endParaRPr lang="en-US" sz="1400" dirty="0"/>
          </a:p>
        </p:txBody>
      </p:sp>
      <p:sp>
        <p:nvSpPr>
          <p:cNvPr id="20" name="Text 16"/>
          <p:cNvSpPr/>
          <p:nvPr/>
        </p:nvSpPr>
        <p:spPr>
          <a:xfrm>
            <a:off x="6400800" y="4791456"/>
            <a:ext cx="5212080" cy="1298448"/>
          </a:xfrm>
          <a:prstGeom prst="rect">
            <a:avLst/>
          </a:prstGeom>
          <a:noFill/>
          <a:ln/>
        </p:spPr>
        <p:txBody>
          <a:bodyPr wrap="square" rtlCol="0" anchor="ctr"/>
          <a:lstStyle/>
          <a:p>
            <a:pPr indent="0" marL="0">
              <a:buNone/>
            </a:pPr>
            <a:r>
              <a:rPr lang="en-US" sz="1300" dirty="0">
                <a:solidFill>
                  <a:srgbClr val="1A1714"/>
                </a:solidFill>
                <a:latin typeface="Calibri" pitchFamily="34" charset="0"/>
                <a:ea typeface="Calibri" pitchFamily="34" charset="-122"/>
                <a:cs typeface="Calibri" pitchFamily="34" charset="-120"/>
              </a:rPr>
              <a:t>Parity is reliable for one flipped bit. If two bits flip, even parity can look correct again, so the error may be missed. That is why stronger codes such as CRC are used in high-speed links.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E"/>
          </a:solidFill>
          <a:ln/>
        </p:spPr>
      </p:sp>
      <p:sp>
        <p:nvSpPr>
          <p:cNvPr id="3" name="Shape 1"/>
          <p:cNvSpPr/>
          <p:nvPr/>
        </p:nvSpPr>
        <p:spPr>
          <a:xfrm>
            <a:off x="0" y="0"/>
            <a:ext cx="12191695" cy="64008"/>
          </a:xfrm>
          <a:prstGeom prst="rect">
            <a:avLst/>
          </a:prstGeom>
          <a:solidFill>
            <a:srgbClr val="1E3A4C"/>
          </a:solidFill>
          <a:ln/>
        </p:spPr>
      </p:sp>
      <p:sp>
        <p:nvSpPr>
          <p:cNvPr id="4" name="Shape 2"/>
          <p:cNvSpPr/>
          <p:nvPr/>
        </p:nvSpPr>
        <p:spPr>
          <a:xfrm>
            <a:off x="0" y="6793992"/>
            <a:ext cx="12191695" cy="64008"/>
          </a:xfrm>
          <a:prstGeom prst="rect">
            <a:avLst/>
          </a:prstGeom>
          <a:solidFill>
            <a:srgbClr val="1E3A4C"/>
          </a:solidFill>
          <a:ln/>
        </p:spPr>
      </p:sp>
      <p:sp>
        <p:nvSpPr>
          <p:cNvPr id="5" name="Text 3"/>
          <p:cNvSpPr/>
          <p:nvPr/>
        </p:nvSpPr>
        <p:spPr>
          <a:xfrm>
            <a:off x="411480" y="164592"/>
            <a:ext cx="7680960" cy="201168"/>
          </a:xfrm>
          <a:prstGeom prst="rect">
            <a:avLst/>
          </a:prstGeom>
          <a:noFill/>
          <a:ln/>
        </p:spPr>
        <p:txBody>
          <a:bodyPr wrap="square" rtlCol="0" anchor="ctr"/>
          <a:lstStyle/>
          <a:p>
            <a:pPr indent="0" marL="0">
              <a:buNone/>
            </a:pPr>
            <a:r>
              <a:rPr lang="en-US" sz="1000" spc="110" kern="0" dirty="0">
                <a:solidFill>
                  <a:srgbClr val="6B6057"/>
                </a:solidFill>
                <a:latin typeface="Consolas" pitchFamily="34" charset="0"/>
                <a:ea typeface="Consolas" pitchFamily="34" charset="-122"/>
                <a:cs typeface="Consolas" pitchFamily="34" charset="-120"/>
              </a:rPr>
              <a:t>10  CONCLUSION</a:t>
            </a:r>
            <a:endParaRPr lang="en-US" sz="1000" dirty="0"/>
          </a:p>
        </p:txBody>
      </p:sp>
      <p:sp>
        <p:nvSpPr>
          <p:cNvPr id="6" name="Text 4"/>
          <p:cNvSpPr/>
          <p:nvPr/>
        </p:nvSpPr>
        <p:spPr>
          <a:xfrm>
            <a:off x="7955280" y="164592"/>
            <a:ext cx="3794760" cy="201168"/>
          </a:xfrm>
          <a:prstGeom prst="rect">
            <a:avLst/>
          </a:prstGeom>
          <a:noFill/>
          <a:ln/>
        </p:spPr>
        <p:txBody>
          <a:bodyPr wrap="square" rtlCol="0" anchor="ctr"/>
          <a:lstStyle/>
          <a:p>
            <a:pPr algn="r" indent="0" marL="0">
              <a:buNone/>
            </a:pPr>
            <a:r>
              <a:rPr lang="en-US" sz="1000" dirty="0">
                <a:solidFill>
                  <a:srgbClr val="6B6057"/>
                </a:solidFill>
                <a:latin typeface="Consolas" pitchFamily="34" charset="0"/>
                <a:ea typeface="Consolas" pitchFamily="34" charset="-122"/>
                <a:cs typeface="Consolas" pitchFamily="34" charset="-120"/>
              </a:rPr>
              <a:t>ACHIEVEMENTS</a:t>
            </a:r>
            <a:endParaRPr lang="en-US" sz="1000" dirty="0"/>
          </a:p>
        </p:txBody>
      </p:sp>
      <p:sp>
        <p:nvSpPr>
          <p:cNvPr id="7" name="Text 5"/>
          <p:cNvSpPr/>
          <p:nvPr/>
        </p:nvSpPr>
        <p:spPr>
          <a:xfrm>
            <a:off x="411480" y="384048"/>
            <a:ext cx="11338560" cy="384048"/>
          </a:xfrm>
          <a:prstGeom prst="rect">
            <a:avLst/>
          </a:prstGeom>
          <a:noFill/>
          <a:ln/>
        </p:spPr>
        <p:txBody>
          <a:bodyPr wrap="square" rtlCol="0" anchor="ctr"/>
          <a:lstStyle/>
          <a:p>
            <a:pPr indent="0" marL="0">
              <a:buNone/>
            </a:pPr>
            <a:r>
              <a:rPr lang="en-US" sz="2400" b="1" dirty="0">
                <a:solidFill>
                  <a:srgbClr val="1A1714"/>
                </a:solidFill>
                <a:latin typeface="Georgia" pitchFamily="34" charset="0"/>
                <a:ea typeface="Georgia" pitchFamily="34" charset="-122"/>
                <a:cs typeface="Georgia" pitchFamily="34" charset="-120"/>
              </a:rPr>
              <a:t>Conclusion</a:t>
            </a:r>
            <a:endParaRPr lang="en-US" sz="2400" dirty="0"/>
          </a:p>
        </p:txBody>
      </p:sp>
      <p:sp>
        <p:nvSpPr>
          <p:cNvPr id="8" name="Shape 6"/>
          <p:cNvSpPr/>
          <p:nvPr/>
        </p:nvSpPr>
        <p:spPr>
          <a:xfrm>
            <a:off x="411480" y="804672"/>
            <a:ext cx="1325880" cy="41148"/>
          </a:xfrm>
          <a:prstGeom prst="rect">
            <a:avLst/>
          </a:prstGeom>
          <a:solidFill>
            <a:srgbClr val="B8573A"/>
          </a:solidFill>
          <a:ln/>
        </p:spPr>
      </p:sp>
      <p:sp>
        <p:nvSpPr>
          <p:cNvPr id="9" name="Text 7"/>
          <p:cNvSpPr/>
          <p:nvPr/>
        </p:nvSpPr>
        <p:spPr>
          <a:xfrm>
            <a:off x="411480" y="6528816"/>
            <a:ext cx="9418320" cy="182880"/>
          </a:xfrm>
          <a:prstGeom prst="rect">
            <a:avLst/>
          </a:prstGeom>
          <a:noFill/>
          <a:ln/>
        </p:spPr>
        <p:txBody>
          <a:bodyPr wrap="square" rtlCol="0" anchor="ctr"/>
          <a:lstStyle/>
          <a:p>
            <a:pPr indent="0" marL="0">
              <a:buNone/>
            </a:pPr>
            <a:r>
              <a:rPr lang="en-US" sz="900" dirty="0">
                <a:solidFill>
                  <a:srgbClr val="6B6057"/>
                </a:solidFill>
                <a:latin typeface="Consolas" pitchFamily="34" charset="0"/>
                <a:ea typeface="Consolas" pitchFamily="34" charset="-122"/>
                <a:cs typeface="Consolas" pitchFamily="34" charset="-120"/>
              </a:rPr>
              <a:t>DDCA PROJECT  |  PARITY ERROR DETECTION  |  KLH UNIVERSITY</a:t>
            </a:r>
            <a:endParaRPr lang="en-US" sz="900" dirty="0"/>
          </a:p>
        </p:txBody>
      </p:sp>
      <p:sp>
        <p:nvSpPr>
          <p:cNvPr id="10" name="Text 8"/>
          <p:cNvSpPr/>
          <p:nvPr/>
        </p:nvSpPr>
        <p:spPr>
          <a:xfrm>
            <a:off x="10424160" y="6528816"/>
            <a:ext cx="1325880" cy="182880"/>
          </a:xfrm>
          <a:prstGeom prst="rect">
            <a:avLst/>
          </a:prstGeom>
          <a:noFill/>
          <a:ln/>
        </p:spPr>
        <p:txBody>
          <a:bodyPr wrap="square" rtlCol="0" anchor="ctr"/>
          <a:lstStyle/>
          <a:p>
            <a:pPr algn="r" indent="0" marL="0">
              <a:buNone/>
            </a:pPr>
            <a:r>
              <a:rPr lang="en-US" sz="900" dirty="0">
                <a:solidFill>
                  <a:srgbClr val="6B6057"/>
                </a:solidFill>
                <a:latin typeface="Consolas" pitchFamily="34" charset="0"/>
                <a:ea typeface="Consolas" pitchFamily="34" charset="-122"/>
                <a:cs typeface="Consolas" pitchFamily="34" charset="-120"/>
              </a:rPr>
              <a:t>10 / 10</a:t>
            </a:r>
            <a:endParaRPr lang="en-US" sz="900" dirty="0"/>
          </a:p>
        </p:txBody>
      </p:sp>
      <p:sp>
        <p:nvSpPr>
          <p:cNvPr id="11" name="Shape 9"/>
          <p:cNvSpPr/>
          <p:nvPr/>
        </p:nvSpPr>
        <p:spPr>
          <a:xfrm>
            <a:off x="411480" y="1024128"/>
            <a:ext cx="5669280" cy="1572768"/>
          </a:xfrm>
          <a:prstGeom prst="rect">
            <a:avLst/>
          </a:prstGeom>
          <a:solidFill>
            <a:srgbClr val="EFE9DE"/>
          </a:solidFill>
          <a:ln/>
        </p:spPr>
      </p:sp>
      <p:sp>
        <p:nvSpPr>
          <p:cNvPr id="12" name="Shape 10"/>
          <p:cNvSpPr/>
          <p:nvPr/>
        </p:nvSpPr>
        <p:spPr>
          <a:xfrm>
            <a:off x="411480" y="1024128"/>
            <a:ext cx="82296" cy="1572768"/>
          </a:xfrm>
          <a:prstGeom prst="rect">
            <a:avLst/>
          </a:prstGeom>
          <a:solidFill>
            <a:srgbClr val="B8573A"/>
          </a:solidFill>
          <a:ln/>
        </p:spPr>
      </p:sp>
      <p:sp>
        <p:nvSpPr>
          <p:cNvPr id="13" name="Text 11"/>
          <p:cNvSpPr/>
          <p:nvPr/>
        </p:nvSpPr>
        <p:spPr>
          <a:xfrm>
            <a:off x="667512" y="117043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Designed</a:t>
            </a:r>
            <a:endParaRPr lang="en-US" sz="1600" dirty="0"/>
          </a:p>
        </p:txBody>
      </p:sp>
      <p:sp>
        <p:nvSpPr>
          <p:cNvPr id="14" name="Text 12"/>
          <p:cNvSpPr/>
          <p:nvPr/>
        </p:nvSpPr>
        <p:spPr>
          <a:xfrm>
            <a:off x="667512" y="151790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A 4-bit even/odd parity error-detection system was designed from generator to checker.</a:t>
            </a:r>
            <a:endParaRPr lang="en-US" sz="1400" dirty="0"/>
          </a:p>
        </p:txBody>
      </p:sp>
      <p:sp>
        <p:nvSpPr>
          <p:cNvPr id="15" name="Shape 13"/>
          <p:cNvSpPr/>
          <p:nvPr/>
        </p:nvSpPr>
        <p:spPr>
          <a:xfrm>
            <a:off x="6309360" y="1024128"/>
            <a:ext cx="5669280" cy="1572768"/>
          </a:xfrm>
          <a:prstGeom prst="rect">
            <a:avLst/>
          </a:prstGeom>
          <a:solidFill>
            <a:srgbClr val="EFE9DE"/>
          </a:solidFill>
          <a:ln/>
        </p:spPr>
      </p:sp>
      <p:sp>
        <p:nvSpPr>
          <p:cNvPr id="16" name="Shape 14"/>
          <p:cNvSpPr/>
          <p:nvPr/>
        </p:nvSpPr>
        <p:spPr>
          <a:xfrm>
            <a:off x="6309360" y="1024128"/>
            <a:ext cx="82296" cy="1572768"/>
          </a:xfrm>
          <a:prstGeom prst="rect">
            <a:avLst/>
          </a:prstGeom>
          <a:solidFill>
            <a:srgbClr val="B8573A"/>
          </a:solidFill>
          <a:ln/>
        </p:spPr>
      </p:sp>
      <p:sp>
        <p:nvSpPr>
          <p:cNvPr id="17" name="Text 15"/>
          <p:cNvSpPr/>
          <p:nvPr/>
        </p:nvSpPr>
        <p:spPr>
          <a:xfrm>
            <a:off x="6565392" y="117043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Implemented</a:t>
            </a:r>
            <a:endParaRPr lang="en-US" sz="1600" dirty="0"/>
          </a:p>
        </p:txBody>
      </p:sp>
      <p:sp>
        <p:nvSpPr>
          <p:cNvPr id="18" name="Text 16"/>
          <p:cNvSpPr/>
          <p:nvPr/>
        </p:nvSpPr>
        <p:spPr>
          <a:xfrm>
            <a:off x="6565392" y="151790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XOR-based generator and checker were built and can be simulated in Logisim.</a:t>
            </a:r>
            <a:endParaRPr lang="en-US" sz="1400" dirty="0"/>
          </a:p>
        </p:txBody>
      </p:sp>
      <p:sp>
        <p:nvSpPr>
          <p:cNvPr id="19" name="Shape 17"/>
          <p:cNvSpPr/>
          <p:nvPr/>
        </p:nvSpPr>
        <p:spPr>
          <a:xfrm>
            <a:off x="411480" y="2761488"/>
            <a:ext cx="5669280" cy="1572768"/>
          </a:xfrm>
          <a:prstGeom prst="rect">
            <a:avLst/>
          </a:prstGeom>
          <a:solidFill>
            <a:srgbClr val="EFE9DE"/>
          </a:solidFill>
          <a:ln/>
        </p:spPr>
      </p:sp>
      <p:sp>
        <p:nvSpPr>
          <p:cNvPr id="20" name="Shape 18"/>
          <p:cNvSpPr/>
          <p:nvPr/>
        </p:nvSpPr>
        <p:spPr>
          <a:xfrm>
            <a:off x="411480" y="2761488"/>
            <a:ext cx="82296" cy="1572768"/>
          </a:xfrm>
          <a:prstGeom prst="rect">
            <a:avLst/>
          </a:prstGeom>
          <a:solidFill>
            <a:srgbClr val="B8573A"/>
          </a:solidFill>
          <a:ln/>
        </p:spPr>
      </p:sp>
      <p:sp>
        <p:nvSpPr>
          <p:cNvPr id="21" name="Text 19"/>
          <p:cNvSpPr/>
          <p:nvPr/>
        </p:nvSpPr>
        <p:spPr>
          <a:xfrm>
            <a:off x="667512" y="290779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Verified</a:t>
            </a:r>
            <a:endParaRPr lang="en-US" sz="1600" dirty="0"/>
          </a:p>
        </p:txBody>
      </p:sp>
      <p:sp>
        <p:nvSpPr>
          <p:cNvPr id="22" name="Text 20"/>
          <p:cNvSpPr/>
          <p:nvPr/>
        </p:nvSpPr>
        <p:spPr>
          <a:xfrm>
            <a:off x="667512" y="325526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Clean data gives No Error. A single flipped bit gives Error Detected.</a:t>
            </a:r>
            <a:endParaRPr lang="en-US" sz="1400" dirty="0"/>
          </a:p>
        </p:txBody>
      </p:sp>
      <p:sp>
        <p:nvSpPr>
          <p:cNvPr id="23" name="Shape 21"/>
          <p:cNvSpPr/>
          <p:nvPr/>
        </p:nvSpPr>
        <p:spPr>
          <a:xfrm>
            <a:off x="6309360" y="2761488"/>
            <a:ext cx="5669280" cy="1572768"/>
          </a:xfrm>
          <a:prstGeom prst="rect">
            <a:avLst/>
          </a:prstGeom>
          <a:solidFill>
            <a:srgbClr val="EFE9DE"/>
          </a:solidFill>
          <a:ln/>
        </p:spPr>
      </p:sp>
      <p:sp>
        <p:nvSpPr>
          <p:cNvPr id="24" name="Shape 22"/>
          <p:cNvSpPr/>
          <p:nvPr/>
        </p:nvSpPr>
        <p:spPr>
          <a:xfrm>
            <a:off x="6309360" y="2761488"/>
            <a:ext cx="82296" cy="1572768"/>
          </a:xfrm>
          <a:prstGeom prst="rect">
            <a:avLst/>
          </a:prstGeom>
          <a:solidFill>
            <a:srgbClr val="B8573A"/>
          </a:solidFill>
          <a:ln/>
        </p:spPr>
      </p:sp>
      <p:sp>
        <p:nvSpPr>
          <p:cNvPr id="25" name="Text 23"/>
          <p:cNvSpPr/>
          <p:nvPr/>
        </p:nvSpPr>
        <p:spPr>
          <a:xfrm>
            <a:off x="6565392" y="290779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Objectives met</a:t>
            </a:r>
            <a:endParaRPr lang="en-US" sz="1600" dirty="0"/>
          </a:p>
        </p:txBody>
      </p:sp>
      <p:sp>
        <p:nvSpPr>
          <p:cNvPr id="26" name="Text 24"/>
          <p:cNvSpPr/>
          <p:nvPr/>
        </p:nvSpPr>
        <p:spPr>
          <a:xfrm>
            <a:off x="6565392" y="325526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The goals of design, generation, checking, implementation, and testing were fulfilled.</a:t>
            </a:r>
            <a:endParaRPr lang="en-US" sz="1400" dirty="0"/>
          </a:p>
        </p:txBody>
      </p:sp>
      <p:sp>
        <p:nvSpPr>
          <p:cNvPr id="27" name="Shape 25"/>
          <p:cNvSpPr/>
          <p:nvPr/>
        </p:nvSpPr>
        <p:spPr>
          <a:xfrm>
            <a:off x="411480" y="4498848"/>
            <a:ext cx="5669280" cy="1572768"/>
          </a:xfrm>
          <a:prstGeom prst="rect">
            <a:avLst/>
          </a:prstGeom>
          <a:solidFill>
            <a:srgbClr val="EFE9DE"/>
          </a:solidFill>
          <a:ln/>
        </p:spPr>
      </p:sp>
      <p:sp>
        <p:nvSpPr>
          <p:cNvPr id="28" name="Shape 26"/>
          <p:cNvSpPr/>
          <p:nvPr/>
        </p:nvSpPr>
        <p:spPr>
          <a:xfrm>
            <a:off x="411480" y="4498848"/>
            <a:ext cx="82296" cy="1572768"/>
          </a:xfrm>
          <a:prstGeom prst="rect">
            <a:avLst/>
          </a:prstGeom>
          <a:solidFill>
            <a:srgbClr val="B8573A"/>
          </a:solidFill>
          <a:ln/>
        </p:spPr>
      </p:sp>
      <p:sp>
        <p:nvSpPr>
          <p:cNvPr id="29" name="Text 27"/>
          <p:cNvSpPr/>
          <p:nvPr/>
        </p:nvSpPr>
        <p:spPr>
          <a:xfrm>
            <a:off x="667512" y="464515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Limit understood</a:t>
            </a:r>
            <a:endParaRPr lang="en-US" sz="1600" dirty="0"/>
          </a:p>
        </p:txBody>
      </p:sp>
      <p:sp>
        <p:nvSpPr>
          <p:cNvPr id="30" name="Text 28"/>
          <p:cNvSpPr/>
          <p:nvPr/>
        </p:nvSpPr>
        <p:spPr>
          <a:xfrm>
            <a:off x="667512" y="499262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Parity cannot correct errors or always catch multi-bit faults.</a:t>
            </a:r>
            <a:endParaRPr lang="en-US" sz="1400" dirty="0"/>
          </a:p>
        </p:txBody>
      </p:sp>
      <p:sp>
        <p:nvSpPr>
          <p:cNvPr id="31" name="Shape 29"/>
          <p:cNvSpPr/>
          <p:nvPr/>
        </p:nvSpPr>
        <p:spPr>
          <a:xfrm>
            <a:off x="6309360" y="4498848"/>
            <a:ext cx="5669280" cy="1572768"/>
          </a:xfrm>
          <a:prstGeom prst="rect">
            <a:avLst/>
          </a:prstGeom>
          <a:solidFill>
            <a:srgbClr val="EFE9DE"/>
          </a:solidFill>
          <a:ln/>
        </p:spPr>
      </p:sp>
      <p:sp>
        <p:nvSpPr>
          <p:cNvPr id="32" name="Shape 30"/>
          <p:cNvSpPr/>
          <p:nvPr/>
        </p:nvSpPr>
        <p:spPr>
          <a:xfrm>
            <a:off x="6309360" y="4498848"/>
            <a:ext cx="82296" cy="1572768"/>
          </a:xfrm>
          <a:prstGeom prst="rect">
            <a:avLst/>
          </a:prstGeom>
          <a:solidFill>
            <a:srgbClr val="B8573A"/>
          </a:solidFill>
          <a:ln/>
        </p:spPr>
      </p:sp>
      <p:sp>
        <p:nvSpPr>
          <p:cNvPr id="33" name="Text 31"/>
          <p:cNvSpPr/>
          <p:nvPr/>
        </p:nvSpPr>
        <p:spPr>
          <a:xfrm>
            <a:off x="6565392" y="4645152"/>
            <a:ext cx="5212080" cy="292608"/>
          </a:xfrm>
          <a:prstGeom prst="rect">
            <a:avLst/>
          </a:prstGeom>
          <a:noFill/>
          <a:ln/>
        </p:spPr>
        <p:txBody>
          <a:bodyPr wrap="square" rtlCol="0" anchor="ctr"/>
          <a:lstStyle/>
          <a:p>
            <a:pPr indent="0" marL="0">
              <a:buNone/>
            </a:pPr>
            <a:r>
              <a:rPr lang="en-US" sz="1600" b="1" dirty="0">
                <a:solidFill>
                  <a:srgbClr val="1A1714"/>
                </a:solidFill>
                <a:latin typeface="Georgia" pitchFamily="34" charset="0"/>
                <a:ea typeface="Georgia" pitchFamily="34" charset="-122"/>
                <a:cs typeface="Georgia" pitchFamily="34" charset="-120"/>
              </a:rPr>
              <a:t>Next step</a:t>
            </a:r>
            <a:endParaRPr lang="en-US" sz="1600" dirty="0"/>
          </a:p>
        </p:txBody>
      </p:sp>
      <p:sp>
        <p:nvSpPr>
          <p:cNvPr id="34" name="Text 32"/>
          <p:cNvSpPr/>
          <p:nvPr/>
        </p:nvSpPr>
        <p:spPr>
          <a:xfrm>
            <a:off x="6565392" y="4992624"/>
            <a:ext cx="5212080" cy="914400"/>
          </a:xfrm>
          <a:prstGeom prst="rect">
            <a:avLst/>
          </a:prstGeom>
          <a:noFill/>
          <a:ln/>
        </p:spPr>
        <p:txBody>
          <a:bodyPr wrap="square" rtlCol="0" anchor="ctr"/>
          <a:lstStyle/>
          <a:p>
            <a:pPr indent="0" marL="0">
              <a:buNone/>
            </a:pPr>
            <a:r>
              <a:rPr lang="en-US" sz="1400" dirty="0">
                <a:solidFill>
                  <a:srgbClr val="1A1714"/>
                </a:solidFill>
                <a:latin typeface="Calibri" pitchFamily="34" charset="0"/>
                <a:ea typeface="Calibri" pitchFamily="34" charset="-122"/>
                <a:cs typeface="Calibri" pitchFamily="34" charset="-120"/>
              </a:rPr>
              <a:t>The same idea can be extended to Hamming code for single-bit correction.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Simulation of a Digital Error Detection System Using Parity</dc:title>
  <dc:subject>PptxGenJS Presentation</dc:subject>
  <dc:creator>DDCA Project Team | KLH University</dc:creator>
  <cp:lastModifiedBy>DDCA Project Team | KLH University</cp:lastModifiedBy>
  <cp:revision>1</cp:revision>
  <dcterms:created xsi:type="dcterms:W3CDTF">2026-09-15T08:05:22Z</dcterms:created>
  <dcterms:modified xsi:type="dcterms:W3CDTF">2026-09-15T08:05:22Z</dcterms:modified>
</cp:coreProperties>
</file>